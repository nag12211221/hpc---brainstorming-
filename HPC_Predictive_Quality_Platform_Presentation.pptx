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Baseline Cost</c:v>
                </c:pt>
              </c:strCache>
            </c:strRef>
          </c:tx>
          <c:spPr>
            <a:solidFill>
              <a:srgbClr val="FFCDD2"/>
            </a:solidFill>
          </c:spPr>
          <c:cat>
            <c:strRef>
              <c:f>Sheet1!$A$2:$A$5</c:f>
              <c:strCache>
                <c:ptCount val="4"/>
                <c:pt idx="0">
                  <c:v>Q1</c:v>
                </c:pt>
                <c:pt idx="1">
                  <c:v>Q2</c:v>
                </c:pt>
                <c:pt idx="2">
                  <c:v>Q3</c:v>
                </c:pt>
                <c:pt idx="3">
                  <c:v>Q4</c:v>
                </c:pt>
              </c:strCache>
            </c:strRef>
          </c:cat>
          <c:val>
            <c:numRef>
              <c:f>Sheet1!$B$2:$B$5</c:f>
              <c:numCache>
                <c:formatCode>General</c:formatCode>
                <c:ptCount val="4"/>
                <c:pt idx="0">
                  <c:v>4.2</c:v>
                </c:pt>
                <c:pt idx="1">
                  <c:v>3.8</c:v>
                </c:pt>
                <c:pt idx="2">
                  <c:v>3.2</c:v>
                </c:pt>
                <c:pt idx="3">
                  <c:v>2.8</c:v>
                </c:pt>
              </c:numCache>
            </c:numRef>
          </c:val>
        </c:ser>
        <c:ser>
          <c:idx val="1"/>
          <c:order val="1"/>
          <c:tx>
            <c:strRef>
              <c:f>Sheet1!$C$1</c:f>
              <c:strCache>
                <c:ptCount val="1"/>
                <c:pt idx="0">
                  <c:v>With Platform</c:v>
                </c:pt>
              </c:strCache>
            </c:strRef>
          </c:tx>
          <c:spPr>
            <a:solidFill>
              <a:srgbClr val="C8E6C9"/>
            </a:solidFill>
          </c:spPr>
          <c:cat>
            <c:strRef>
              <c:f>Sheet1!$A$2:$A$5</c:f>
              <c:strCache>
                <c:ptCount val="4"/>
                <c:pt idx="0">
                  <c:v>Q1</c:v>
                </c:pt>
                <c:pt idx="1">
                  <c:v>Q2</c:v>
                </c:pt>
                <c:pt idx="2">
                  <c:v>Q3</c:v>
                </c:pt>
                <c:pt idx="3">
                  <c:v>Q4</c:v>
                </c:pt>
              </c:strCache>
            </c:strRef>
          </c:cat>
          <c:val>
            <c:numRef>
              <c:f>Sheet1!$C$2:$C$5</c:f>
              <c:numCache>
                <c:formatCode>General</c:formatCode>
                <c:ptCount val="4"/>
                <c:pt idx="0">
                  <c:v>2.7</c:v>
                </c:pt>
                <c:pt idx="1">
                  <c:v>2.3</c:v>
                </c:pt>
                <c:pt idx="2">
                  <c:v>1.9</c:v>
                </c:pt>
                <c:pt idx="3">
                  <c:v>1.7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HPC-Driven Predictive Quality Platform presentation. This document covers the full technical architecture, predictive models, and business value of our Battery Thermal Management proof-of-concept. The platform predicts EV battery failures 24-72 hours before they occur, enabling proactive maintenance and significant warranty cost reduction.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covers 10 major sections, from executive summary through technical architecture, predictive models, dashboard features, API reference, and business value quantification. Each section includes visual aids and detailed explanations of the platform's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HPC-Driven Predictive Quality Platform is a SaaS-style predictive failure detection system for OEMs. It focuses on Battery Thermal Management — the subsystem with the richest telemetry and highest warranty cost impact. A single EV battery pack replacement exceeds $10,000. By detecting degradation 24-72 hours early, we achieve a 30-40% reduction in warranty validation cycles, translating to millions in savings for large OEM fleets. The platform is service-oriented, allowing additional subsystems like HVAC and infotainment to be added incrementally.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offers six core capabilities: (1) Real-time drift detection using EWMA to catch gradual degradation; (2) Failure probability estimation with transparent logistic models; (3) Time-to-failure forecasting from 30 minutes to 72 hours; (4) Automated alerting with deduplication; (5) A/B model testing with deterministic routing; and (6) ROI quantification for executive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Battery Thermal Management subsystem was chosen because it produces the richest telemetry data available on the vehicle CAN bus. We monitor 5 key signals: max cell temperature, coolant temperature differential, coolant flow rate, pack current, and state of charge. These signals, combined with the digital twin predictions, provide the residual signals our models use for failure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follows a three-tier service-oriented architecture: (1) The Dashboard layer — a single-page app with Plotly charts communicating via REST/JSON; (2) The Flask API layer — exposing all endpoints for fleet, vehicles, alerts, models, and config; (3) The Service layer — three independent modules: Subsystem Registry (pluggable subsystems), Models &amp; A/B Testing (drift detection + failure prediction), and Services (fleet management, alerting, ROI calculation, feedback, and case studies). Each component is independently deployable and horizontally scalable.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key design principles guide the architecture: (1) Subsystem Registry enables zero-touch extensibility — add a new class and it appears in the API/UI; (2) Mutable Configuration allows per-customer tuning at runtime; (3) Versioned Model Registry supports model lifecycle management; (4) Deterministic A/B routing via hash(VIN) ensures statistical validity; (5) Complete Feedback Loop from customer annotation to retraining to version promotion.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predictive pipeline flows through 6 stages: (1) Vehicle Simulator produces synthetic drive cycles with injected faults; (2) Telemetry Samples capture actual vs. expected measurements from the digital twin; (3) Feature Extraction computes rolling residual means and slopes per channel; (4) Drift Detector applies EWMA to produce a normalized drift score; (5) Failure Model computes failure probability and time-to-failure; (6) Alert Center deduplicates and notifies. The fundamental signal is the residual between the HPC digital twin prediction and actual field measurements. Healthy vehicles have near-zero residuals.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digital twin represents a high-fidelity HPC physics simulation of the battery thermal system. For each timestep, it computes what temperatures SHOULD read given current conditions. The residual between twin prediction and actual measurement is the core anomaly signal. A healthy vehicle shows near-zero residuals and low drift scores. A vehicle with a degrading coolant pump shows growing positive residuals on temperature channels (less cooling = hotter than expected) and negative residuals on flow channels (reduced pump output).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simulator includes 4 built-in failure scenarios, each modeling realistic degradation: (1) Coolant Pump Degrading — flow drops, delta-T widens, pack temp rises above twin prediction; (2) Cell Imbalance — one cell heats faster, max-cell residual diverges; (3) Sensor Bias — reported temps drift below truth, a hidden fault still caught via coolant ΔT residual mismatch; (4) Nominal — healthy baseline. Assignment uses deterministic seeds for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DriftDetector uses Exponentially Weighted Moving Average (EWMA) to track per-feature statistics. The alpha parameter (default 0.15) balances responsiveness vs. noise smoothing. Score computation weights residual-mean features by dividing by 3 (so a 3°C residual = score 1.0) and residual-slope features by multiplying by 4 (rapid changes are weighted heavily). Two alert thresholds: WARN at 0.45 and CRITICAL at 0.75. The score is averaged across all residual channels for stability.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FailureModel uses transparent logistic regression with named coefficients, enabling the dashboard to explain WHY a vehicle is flagged. It outputs three values: failure probability (0-1), a 95% confidence interval propagated through the logit, and time-to-failure. TTF uses a heuristic where base_hours = 72 × (1-p)², then further adjusted by the slope signal. Two versions ship: baseline_v1 (legacy, mean-only) and ewma_plus_v2 (adds slopes, fires earlier, is the default active model).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 testing framework uses hash-deterministic routing: hash(VIN) mod 100 determines which model arm a vehicle belongs to. This ensures the same vehicle always sees the same model, eliminating cross-contamination. Default split is 70/30 (new model / baseline), adjustable via API. Per-arm precision and recall are reported independently for statistically valid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ships two UI options: (1) A standalone HTML file (~88KB) that runs the entire simulation in-browser with zero dependencies — perfect for demos, sharing, and offline use. Includes simulation controls, themes, fault injection, ROI sliders, and data export. (2) A Flask-based multi-tab dashboard with live backend integration, 7 tabs covering executive KPIs, fleet management, vehicle drill-down, case studies, model management, feedback, and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REST API exposes 16+ endpoints covering all platform operations. Key groups: Health/config for platform management; Fleet/vehicles for telemetry access; Alerts for notification management; Models for registry and A/B control; Feedback for the retraining pipeline; Case study for scenario simulation; Reports for executive exports. All return JSON unless CSV is requested.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ROI calculator quantifies business value using configurable assumptions: $12K average claim cost, 8.5 claims per 1,000 vehicles per year, $2.4M annual validation cycle cost, and a 35% recovery rate. For a 50,000-vehicle fleet, this translates to significant annual savings. The chart shows quarterly warranty costs comparing baseline (no prediction) vs. with the predictive platform. All parameters are editable at runtime via the Config tab or API.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Adding a new subsystem is a 3-step process: (1) Create a class implementing the Subsystem abstract interface with reset(), step(), and extract_features() methods plus metadata properties; (2) Register it in the subsystems __init__.py; (3) Done — the API catalog endpoint and dashboard automatically discover it. Key design strengths include transparent models, runtime configurability, a complete feedback loop, zero-dependency demo capability, and production-ready patterns like A/B testing and model versioning.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get started: (1) Instant demo — just open dashboard.html in any browser, no setup needed. (2) Full backend — pip install Flask and run python run.py, then open localhost:5000. The repository is organized with clear separation: API routes, config, models (drift + failure), services (fleet, alerts, ROI, feedback, A/B, cases), subsystems (plugin interface + battery_thermal implementation), and static dashboard files.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The platform targets the highest-value subsystem (battery thermal), uses transparent models that explain their predictions, provides 24-72 hour early warning, achieves the 30-40% validation-cycle reduction target, is extensible via pluggable subsystems, includes production-grade A/B testing, offers a zero-dependency demo for easy sharing, and implements a complete feedback-to-retraining pipeline.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I'm happy to take questions about any aspect of the platform — architecture, predictive models, ROI methodology, deployment options, or the roadmap for adding additional subsystems. The standalone HTML demo is available for immediate hands-on exploration.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0" y="2011680"/>
            <a:ext cx="8229600" cy="2743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194560"/>
            <a:ext cx="8686800" cy="1371600"/>
          </a:xfrm>
          <a:prstGeom prst="rect">
            <a:avLst/>
          </a:prstGeom>
          <a:noFill/>
        </p:spPr>
        <p:txBody>
          <a:bodyPr wrap="square">
            <a:spAutoFit/>
          </a:bodyPr>
          <a:lstStyle/>
          <a:p>
            <a:pPr algn="l"/>
            <a:r>
              <a:rPr sz="4000" b="1">
                <a:solidFill>
                  <a:srgbClr val="FFFFFF"/>
                </a:solidFill>
              </a:rPr>
              <a:t>HPC-Driven Predictive
Quality Platform</a:t>
            </a:r>
          </a:p>
        </p:txBody>
      </p:sp>
      <p:sp>
        <p:nvSpPr>
          <p:cNvPr id="5" name="TextBox 4"/>
          <p:cNvSpPr txBox="1"/>
          <p:nvPr/>
        </p:nvSpPr>
        <p:spPr>
          <a:xfrm>
            <a:off x="1828800" y="3657600"/>
            <a:ext cx="8229600" cy="640080"/>
          </a:xfrm>
          <a:prstGeom prst="rect">
            <a:avLst/>
          </a:prstGeom>
          <a:noFill/>
        </p:spPr>
        <p:txBody>
          <a:bodyPr wrap="square">
            <a:spAutoFit/>
          </a:bodyPr>
          <a:lstStyle/>
          <a:p>
            <a:pPr algn="l"/>
            <a:r>
              <a:rPr sz="2200" b="0">
                <a:solidFill>
                  <a:srgbClr val="B0BEC5"/>
                </a:solidFill>
              </a:rPr>
              <a:t>Technical Architecture &amp; Documentation</a:t>
            </a:r>
          </a:p>
        </p:txBody>
      </p:sp>
      <p:sp>
        <p:nvSpPr>
          <p:cNvPr id="6" name="TextBox 5"/>
          <p:cNvSpPr txBox="1"/>
          <p:nvPr/>
        </p:nvSpPr>
        <p:spPr>
          <a:xfrm>
            <a:off x="1828800" y="4297680"/>
            <a:ext cx="8229600" cy="457200"/>
          </a:xfrm>
          <a:prstGeom prst="rect">
            <a:avLst/>
          </a:prstGeom>
          <a:noFill/>
        </p:spPr>
        <p:txBody>
          <a:bodyPr wrap="square">
            <a:spAutoFit/>
          </a:bodyPr>
          <a:lstStyle/>
          <a:p>
            <a:pPr algn="l"/>
            <a:r>
              <a:rPr sz="1600" b="0">
                <a:solidFill>
                  <a:srgbClr val="90A4AE"/>
                </a:solidFill>
              </a:rPr>
              <a:t>Proof of Concept — Battery Thermal Management Subsystem</a:t>
            </a:r>
          </a:p>
        </p:txBody>
      </p:sp>
      <p:sp>
        <p:nvSpPr>
          <p:cNvPr id="7" name="Rectangle 6"/>
          <p:cNvSpPr/>
          <p:nvPr/>
        </p:nvSpPr>
        <p:spPr>
          <a:xfrm>
            <a:off x="1828800" y="5029200"/>
            <a:ext cx="8229600" cy="2743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303520"/>
            <a:ext cx="4572000" cy="457200"/>
          </a:xfrm>
          <a:prstGeom prst="rect">
            <a:avLst/>
          </a:prstGeom>
          <a:noFill/>
        </p:spPr>
        <p:txBody>
          <a:bodyPr wrap="square">
            <a:spAutoFit/>
          </a:bodyPr>
          <a:lstStyle/>
          <a:p>
            <a:pPr algn="l"/>
            <a:r>
              <a:rPr sz="1400" b="0">
                <a:solidFill>
                  <a:srgbClr val="90A4AE"/>
                </a:solidFill>
              </a:rPr>
              <a:t>June 11, 2026</a:t>
            </a:r>
          </a:p>
        </p:txBody>
      </p:sp>
      <p:sp>
        <p:nvSpPr>
          <p:cNvPr id="9" name="TextBox 8"/>
          <p:cNvSpPr txBox="1"/>
          <p:nvPr/>
        </p:nvSpPr>
        <p:spPr>
          <a:xfrm>
            <a:off x="6400800" y="5303520"/>
            <a:ext cx="3657600" cy="457200"/>
          </a:xfrm>
          <a:prstGeom prst="rect">
            <a:avLst/>
          </a:prstGeom>
          <a:noFill/>
        </p:spPr>
        <p:txBody>
          <a:bodyPr wrap="square">
            <a:spAutoFit/>
          </a:bodyPr>
          <a:lstStyle/>
          <a:p>
            <a:pPr algn="l"/>
            <a:r>
              <a:rPr sz="1400" b="0">
                <a:solidFill>
                  <a:srgbClr val="78909C"/>
                </a:solidFill>
              </a:rPr>
              <a:t>Version 1.0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Agenda</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Presentation Overview</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645920"/>
            <a:ext cx="457200" cy="45720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a:t>
            </a:r>
          </a:p>
        </p:txBody>
      </p:sp>
      <p:sp>
        <p:nvSpPr>
          <p:cNvPr id="7" name="TextBox 6"/>
          <p:cNvSpPr txBox="1"/>
          <p:nvPr/>
        </p:nvSpPr>
        <p:spPr>
          <a:xfrm>
            <a:off x="1554480" y="1691640"/>
            <a:ext cx="4572000" cy="411480"/>
          </a:xfrm>
          <a:prstGeom prst="rect">
            <a:avLst/>
          </a:prstGeom>
          <a:noFill/>
        </p:spPr>
        <p:txBody>
          <a:bodyPr wrap="square">
            <a:spAutoFit/>
          </a:bodyPr>
          <a:lstStyle/>
          <a:p>
            <a:pPr algn="l"/>
            <a:r>
              <a:rPr sz="1800" b="1">
                <a:solidFill>
                  <a:srgbClr val="2C3E50"/>
                </a:solidFill>
              </a:rPr>
              <a:t>Executive Summary</a:t>
            </a:r>
          </a:p>
        </p:txBody>
      </p:sp>
      <p:sp>
        <p:nvSpPr>
          <p:cNvPr id="8" name="Oval 7"/>
          <p:cNvSpPr/>
          <p:nvPr/>
        </p:nvSpPr>
        <p:spPr>
          <a:xfrm>
            <a:off x="914400" y="2468880"/>
            <a:ext cx="457200" cy="45720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2</a:t>
            </a:r>
          </a:p>
        </p:txBody>
      </p:sp>
      <p:sp>
        <p:nvSpPr>
          <p:cNvPr id="9" name="TextBox 8"/>
          <p:cNvSpPr txBox="1"/>
          <p:nvPr/>
        </p:nvSpPr>
        <p:spPr>
          <a:xfrm>
            <a:off x="1554480" y="2514600"/>
            <a:ext cx="4572000" cy="411480"/>
          </a:xfrm>
          <a:prstGeom prst="rect">
            <a:avLst/>
          </a:prstGeom>
          <a:noFill/>
        </p:spPr>
        <p:txBody>
          <a:bodyPr wrap="square">
            <a:spAutoFit/>
          </a:bodyPr>
          <a:lstStyle/>
          <a:p>
            <a:pPr algn="l"/>
            <a:r>
              <a:rPr sz="1800" b="1">
                <a:solidFill>
                  <a:srgbClr val="2C3E50"/>
                </a:solidFill>
              </a:rPr>
              <a:t>Platform Overview</a:t>
            </a:r>
          </a:p>
        </p:txBody>
      </p:sp>
      <p:sp>
        <p:nvSpPr>
          <p:cNvPr id="10" name="Oval 9"/>
          <p:cNvSpPr/>
          <p:nvPr/>
        </p:nvSpPr>
        <p:spPr>
          <a:xfrm>
            <a:off x="914400" y="3291840"/>
            <a:ext cx="457200" cy="45720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3</a:t>
            </a:r>
          </a:p>
        </p:txBody>
      </p:sp>
      <p:sp>
        <p:nvSpPr>
          <p:cNvPr id="11" name="TextBox 10"/>
          <p:cNvSpPr txBox="1"/>
          <p:nvPr/>
        </p:nvSpPr>
        <p:spPr>
          <a:xfrm>
            <a:off x="1554480" y="3337560"/>
            <a:ext cx="4572000" cy="411480"/>
          </a:xfrm>
          <a:prstGeom prst="rect">
            <a:avLst/>
          </a:prstGeom>
          <a:noFill/>
        </p:spPr>
        <p:txBody>
          <a:bodyPr wrap="square">
            <a:spAutoFit/>
          </a:bodyPr>
          <a:lstStyle/>
          <a:p>
            <a:pPr algn="l"/>
            <a:r>
              <a:rPr sz="1800" b="1">
                <a:solidFill>
                  <a:srgbClr val="2C3E50"/>
                </a:solidFill>
              </a:rPr>
              <a:t>System Architecture</a:t>
            </a:r>
          </a:p>
        </p:txBody>
      </p:sp>
      <p:sp>
        <p:nvSpPr>
          <p:cNvPr id="12" name="Oval 11"/>
          <p:cNvSpPr/>
          <p:nvPr/>
        </p:nvSpPr>
        <p:spPr>
          <a:xfrm>
            <a:off x="914400" y="4114800"/>
            <a:ext cx="457200" cy="45720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4</a:t>
            </a:r>
          </a:p>
        </p:txBody>
      </p:sp>
      <p:sp>
        <p:nvSpPr>
          <p:cNvPr id="13" name="TextBox 12"/>
          <p:cNvSpPr txBox="1"/>
          <p:nvPr/>
        </p:nvSpPr>
        <p:spPr>
          <a:xfrm>
            <a:off x="1554480" y="4160520"/>
            <a:ext cx="4572000" cy="411480"/>
          </a:xfrm>
          <a:prstGeom prst="rect">
            <a:avLst/>
          </a:prstGeom>
          <a:noFill/>
        </p:spPr>
        <p:txBody>
          <a:bodyPr wrap="square">
            <a:spAutoFit/>
          </a:bodyPr>
          <a:lstStyle/>
          <a:p>
            <a:pPr algn="l"/>
            <a:r>
              <a:rPr sz="1800" b="1">
                <a:solidFill>
                  <a:srgbClr val="2C3E50"/>
                </a:solidFill>
              </a:rPr>
              <a:t>Data &amp; Telemetry Pipeline</a:t>
            </a:r>
          </a:p>
        </p:txBody>
      </p:sp>
      <p:sp>
        <p:nvSpPr>
          <p:cNvPr id="14" name="Oval 13"/>
          <p:cNvSpPr/>
          <p:nvPr/>
        </p:nvSpPr>
        <p:spPr>
          <a:xfrm>
            <a:off x="914400" y="4937760"/>
            <a:ext cx="457200" cy="45720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5</a:t>
            </a:r>
          </a:p>
        </p:txBody>
      </p:sp>
      <p:sp>
        <p:nvSpPr>
          <p:cNvPr id="15" name="TextBox 14"/>
          <p:cNvSpPr txBox="1"/>
          <p:nvPr/>
        </p:nvSpPr>
        <p:spPr>
          <a:xfrm>
            <a:off x="1554480" y="4983480"/>
            <a:ext cx="4572000" cy="411480"/>
          </a:xfrm>
          <a:prstGeom prst="rect">
            <a:avLst/>
          </a:prstGeom>
          <a:noFill/>
        </p:spPr>
        <p:txBody>
          <a:bodyPr wrap="square">
            <a:spAutoFit/>
          </a:bodyPr>
          <a:lstStyle/>
          <a:p>
            <a:pPr algn="l"/>
            <a:r>
              <a:rPr sz="1800" b="1">
                <a:solidFill>
                  <a:srgbClr val="2C3E50"/>
                </a:solidFill>
              </a:rPr>
              <a:t>Failure Scenarios</a:t>
            </a:r>
          </a:p>
        </p:txBody>
      </p:sp>
      <p:sp>
        <p:nvSpPr>
          <p:cNvPr id="16" name="Oval 15"/>
          <p:cNvSpPr/>
          <p:nvPr/>
        </p:nvSpPr>
        <p:spPr>
          <a:xfrm>
            <a:off x="6400800" y="1645920"/>
            <a:ext cx="457200" cy="457200"/>
          </a:xfrm>
          <a:prstGeom prst="ellipse">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6</a:t>
            </a:r>
          </a:p>
        </p:txBody>
      </p:sp>
      <p:sp>
        <p:nvSpPr>
          <p:cNvPr id="17" name="TextBox 16"/>
          <p:cNvSpPr txBox="1"/>
          <p:nvPr/>
        </p:nvSpPr>
        <p:spPr>
          <a:xfrm>
            <a:off x="7040880" y="1691640"/>
            <a:ext cx="4572000" cy="411480"/>
          </a:xfrm>
          <a:prstGeom prst="rect">
            <a:avLst/>
          </a:prstGeom>
          <a:noFill/>
        </p:spPr>
        <p:txBody>
          <a:bodyPr wrap="square">
            <a:spAutoFit/>
          </a:bodyPr>
          <a:lstStyle/>
          <a:p>
            <a:pPr algn="l"/>
            <a:r>
              <a:rPr sz="1800" b="1">
                <a:solidFill>
                  <a:srgbClr val="2C3E50"/>
                </a:solidFill>
              </a:rPr>
              <a:t>Predictive Models</a:t>
            </a:r>
          </a:p>
        </p:txBody>
      </p:sp>
      <p:sp>
        <p:nvSpPr>
          <p:cNvPr id="18" name="Oval 17"/>
          <p:cNvSpPr/>
          <p:nvPr/>
        </p:nvSpPr>
        <p:spPr>
          <a:xfrm>
            <a:off x="6400800" y="2468880"/>
            <a:ext cx="457200" cy="457200"/>
          </a:xfrm>
          <a:prstGeom prst="ellipse">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7</a:t>
            </a:r>
          </a:p>
        </p:txBody>
      </p:sp>
      <p:sp>
        <p:nvSpPr>
          <p:cNvPr id="19" name="TextBox 18"/>
          <p:cNvSpPr txBox="1"/>
          <p:nvPr/>
        </p:nvSpPr>
        <p:spPr>
          <a:xfrm>
            <a:off x="7040880" y="2514600"/>
            <a:ext cx="4572000" cy="411480"/>
          </a:xfrm>
          <a:prstGeom prst="rect">
            <a:avLst/>
          </a:prstGeom>
          <a:noFill/>
        </p:spPr>
        <p:txBody>
          <a:bodyPr wrap="square">
            <a:spAutoFit/>
          </a:bodyPr>
          <a:lstStyle/>
          <a:p>
            <a:pPr algn="l"/>
            <a:r>
              <a:rPr sz="1800" b="1">
                <a:solidFill>
                  <a:srgbClr val="2C3E50"/>
                </a:solidFill>
              </a:rPr>
              <a:t>Dashboard &amp; User Interface</a:t>
            </a:r>
          </a:p>
        </p:txBody>
      </p:sp>
      <p:sp>
        <p:nvSpPr>
          <p:cNvPr id="20" name="Oval 19"/>
          <p:cNvSpPr/>
          <p:nvPr/>
        </p:nvSpPr>
        <p:spPr>
          <a:xfrm>
            <a:off x="6400800" y="3291840"/>
            <a:ext cx="457200" cy="457200"/>
          </a:xfrm>
          <a:prstGeom prst="ellipse">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8</a:t>
            </a:r>
          </a:p>
        </p:txBody>
      </p:sp>
      <p:sp>
        <p:nvSpPr>
          <p:cNvPr id="21" name="TextBox 20"/>
          <p:cNvSpPr txBox="1"/>
          <p:nvPr/>
        </p:nvSpPr>
        <p:spPr>
          <a:xfrm>
            <a:off x="7040880" y="3337560"/>
            <a:ext cx="4572000" cy="411480"/>
          </a:xfrm>
          <a:prstGeom prst="rect">
            <a:avLst/>
          </a:prstGeom>
          <a:noFill/>
        </p:spPr>
        <p:txBody>
          <a:bodyPr wrap="square">
            <a:spAutoFit/>
          </a:bodyPr>
          <a:lstStyle/>
          <a:p>
            <a:pPr algn="l"/>
            <a:r>
              <a:rPr sz="1800" b="1">
                <a:solidFill>
                  <a:srgbClr val="2C3E50"/>
                </a:solidFill>
              </a:rPr>
              <a:t>REST API Reference</a:t>
            </a:r>
          </a:p>
        </p:txBody>
      </p:sp>
      <p:sp>
        <p:nvSpPr>
          <p:cNvPr id="22" name="Oval 21"/>
          <p:cNvSpPr/>
          <p:nvPr/>
        </p:nvSpPr>
        <p:spPr>
          <a:xfrm>
            <a:off x="6400800" y="4114800"/>
            <a:ext cx="457200" cy="457200"/>
          </a:xfrm>
          <a:prstGeom prst="ellipse">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9</a:t>
            </a:r>
          </a:p>
        </p:txBody>
      </p:sp>
      <p:sp>
        <p:nvSpPr>
          <p:cNvPr id="23" name="TextBox 22"/>
          <p:cNvSpPr txBox="1"/>
          <p:nvPr/>
        </p:nvSpPr>
        <p:spPr>
          <a:xfrm>
            <a:off x="7040880" y="4160520"/>
            <a:ext cx="4572000" cy="411480"/>
          </a:xfrm>
          <a:prstGeom prst="rect">
            <a:avLst/>
          </a:prstGeom>
          <a:noFill/>
        </p:spPr>
        <p:txBody>
          <a:bodyPr wrap="square">
            <a:spAutoFit/>
          </a:bodyPr>
          <a:lstStyle/>
          <a:p>
            <a:pPr algn="l"/>
            <a:r>
              <a:rPr sz="1800" b="1">
                <a:solidFill>
                  <a:srgbClr val="2C3E50"/>
                </a:solidFill>
              </a:rPr>
              <a:t>ROI &amp; Business Value</a:t>
            </a:r>
          </a:p>
        </p:txBody>
      </p:sp>
      <p:sp>
        <p:nvSpPr>
          <p:cNvPr id="24" name="Oval 23"/>
          <p:cNvSpPr/>
          <p:nvPr/>
        </p:nvSpPr>
        <p:spPr>
          <a:xfrm>
            <a:off x="6400800" y="4937760"/>
            <a:ext cx="457200" cy="457200"/>
          </a:xfrm>
          <a:prstGeom prst="ellipse">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10</a:t>
            </a:r>
          </a:p>
        </p:txBody>
      </p:sp>
      <p:sp>
        <p:nvSpPr>
          <p:cNvPr id="25" name="TextBox 24"/>
          <p:cNvSpPr txBox="1"/>
          <p:nvPr/>
        </p:nvSpPr>
        <p:spPr>
          <a:xfrm>
            <a:off x="7040880" y="4983480"/>
            <a:ext cx="4572000" cy="411480"/>
          </a:xfrm>
          <a:prstGeom prst="rect">
            <a:avLst/>
          </a:prstGeom>
          <a:noFill/>
        </p:spPr>
        <p:txBody>
          <a:bodyPr wrap="square">
            <a:spAutoFit/>
          </a:bodyPr>
          <a:lstStyle/>
          <a:p>
            <a:pPr algn="l"/>
            <a:r>
              <a:rPr sz="1800" b="1">
                <a:solidFill>
                  <a:srgbClr val="2C3E50"/>
                </a:solidFill>
              </a:rPr>
              <a:t>Getting Started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Executive Summary</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Platform Purpose &amp; Value Proposition</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10515600" cy="1097280"/>
          </a:xfrm>
          <a:prstGeom prst="roundRect">
            <a:avLst/>
          </a:prstGeom>
          <a:solidFill>
            <a:srgbClr val="F0F4F8"/>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B3A5C"/>
                </a:solidFill>
              </a:rPr>
              <a:t>SaaS-style predictive failure-detection platform for OEMs — detects battery thermal failures 24-72 hours before occurrence</a:t>
            </a:r>
          </a:p>
        </p:txBody>
      </p:sp>
      <p:sp>
        <p:nvSpPr>
          <p:cNvPr id="7" name="Rounded Rectangle 6"/>
          <p:cNvSpPr/>
          <p:nvPr/>
        </p:nvSpPr>
        <p:spPr>
          <a:xfrm>
            <a:off x="1097280" y="2926080"/>
            <a:ext cx="3200400" cy="2743200"/>
          </a:xfrm>
          <a:prstGeom prst="roundRect">
            <a:avLst/>
          </a:prstGeom>
          <a:solidFill>
            <a:srgbClr val="FFFFFF"/>
          </a:solidFill>
          <a:ln w="254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240280" y="3200400"/>
            <a:ext cx="731520" cy="73152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a:t>
            </a:r>
          </a:p>
        </p:txBody>
      </p:sp>
      <p:sp>
        <p:nvSpPr>
          <p:cNvPr id="9" name="TextBox 8"/>
          <p:cNvSpPr txBox="1"/>
          <p:nvPr/>
        </p:nvSpPr>
        <p:spPr>
          <a:xfrm>
            <a:off x="1280160" y="4023360"/>
            <a:ext cx="2834640" cy="457200"/>
          </a:xfrm>
          <a:prstGeom prst="rect">
            <a:avLst/>
          </a:prstGeom>
          <a:noFill/>
        </p:spPr>
        <p:txBody>
          <a:bodyPr wrap="square">
            <a:spAutoFit/>
          </a:bodyPr>
          <a:lstStyle/>
          <a:p>
            <a:pPr algn="ctr"/>
            <a:r>
              <a:rPr sz="1800" b="1">
                <a:solidFill>
                  <a:srgbClr val="2E86AB"/>
                </a:solidFill>
              </a:rPr>
              <a:t>Battery Focus</a:t>
            </a:r>
          </a:p>
        </p:txBody>
      </p:sp>
      <p:sp>
        <p:nvSpPr>
          <p:cNvPr id="10" name="TextBox 9"/>
          <p:cNvSpPr txBox="1"/>
          <p:nvPr/>
        </p:nvSpPr>
        <p:spPr>
          <a:xfrm>
            <a:off x="1280160" y="4480560"/>
            <a:ext cx="2834640" cy="1097280"/>
          </a:xfrm>
          <a:prstGeom prst="rect">
            <a:avLst/>
          </a:prstGeom>
          <a:noFill/>
        </p:spPr>
        <p:txBody>
          <a:bodyPr wrap="square">
            <a:spAutoFit/>
          </a:bodyPr>
          <a:lstStyle/>
          <a:p>
            <a:pPr algn="ctr"/>
            <a:r>
              <a:rPr sz="1400" b="0">
                <a:solidFill>
                  <a:srgbClr val="6C757D"/>
                </a:solidFill>
              </a:rPr>
              <a:t>Thermal management
subsystem — richest
telemetry on CAN bus</a:t>
            </a:r>
          </a:p>
        </p:txBody>
      </p:sp>
      <p:sp>
        <p:nvSpPr>
          <p:cNvPr id="11" name="Rounded Rectangle 10"/>
          <p:cNvSpPr/>
          <p:nvPr/>
        </p:nvSpPr>
        <p:spPr>
          <a:xfrm>
            <a:off x="4754880" y="2926080"/>
            <a:ext cx="3200400" cy="2743200"/>
          </a:xfrm>
          <a:prstGeom prst="roundRect">
            <a:avLst/>
          </a:prstGeom>
          <a:solidFill>
            <a:srgbClr val="FFFFFF"/>
          </a:solidFill>
          <a:ln w="254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897880" y="3200400"/>
            <a:ext cx="731520" cy="73152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a:t>
            </a:r>
          </a:p>
        </p:txBody>
      </p:sp>
      <p:sp>
        <p:nvSpPr>
          <p:cNvPr id="13" name="TextBox 12"/>
          <p:cNvSpPr txBox="1"/>
          <p:nvPr/>
        </p:nvSpPr>
        <p:spPr>
          <a:xfrm>
            <a:off x="4937760" y="4023360"/>
            <a:ext cx="2834640" cy="457200"/>
          </a:xfrm>
          <a:prstGeom prst="rect">
            <a:avLst/>
          </a:prstGeom>
          <a:noFill/>
        </p:spPr>
        <p:txBody>
          <a:bodyPr wrap="square">
            <a:spAutoFit/>
          </a:bodyPr>
          <a:lstStyle/>
          <a:p>
            <a:pPr algn="ctr"/>
            <a:r>
              <a:rPr sz="1800" b="1">
                <a:solidFill>
                  <a:srgbClr val="28A745"/>
                </a:solidFill>
              </a:rPr>
              <a:t>$10K+ Savings</a:t>
            </a:r>
          </a:p>
        </p:txBody>
      </p:sp>
      <p:sp>
        <p:nvSpPr>
          <p:cNvPr id="14" name="TextBox 13"/>
          <p:cNvSpPr txBox="1"/>
          <p:nvPr/>
        </p:nvSpPr>
        <p:spPr>
          <a:xfrm>
            <a:off x="4937760" y="4480560"/>
            <a:ext cx="2834640" cy="1097280"/>
          </a:xfrm>
          <a:prstGeom prst="rect">
            <a:avLst/>
          </a:prstGeom>
          <a:noFill/>
        </p:spPr>
        <p:txBody>
          <a:bodyPr wrap="square">
            <a:spAutoFit/>
          </a:bodyPr>
          <a:lstStyle/>
          <a:p>
            <a:pPr algn="ctr"/>
            <a:r>
              <a:rPr sz="1400" b="0">
                <a:solidFill>
                  <a:srgbClr val="6C757D"/>
                </a:solidFill>
              </a:rPr>
              <a:t>Per-vehicle pack
replacement cost
avoided</a:t>
            </a:r>
          </a:p>
        </p:txBody>
      </p:sp>
      <p:sp>
        <p:nvSpPr>
          <p:cNvPr id="15" name="Rounded Rectangle 14"/>
          <p:cNvSpPr/>
          <p:nvPr/>
        </p:nvSpPr>
        <p:spPr>
          <a:xfrm>
            <a:off x="8412480" y="2926080"/>
            <a:ext cx="3200400" cy="2743200"/>
          </a:xfrm>
          <a:prstGeom prst="roundRect">
            <a:avLst/>
          </a:prstGeom>
          <a:solidFill>
            <a:srgbClr val="FFFFFF"/>
          </a:solidFill>
          <a:ln w="25400">
            <a:solidFill>
              <a:srgbClr val="A23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555480" y="3200400"/>
            <a:ext cx="731520" cy="731520"/>
          </a:xfrm>
          <a:prstGeom prst="ellipse">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a:t>
            </a:r>
          </a:p>
        </p:txBody>
      </p:sp>
      <p:sp>
        <p:nvSpPr>
          <p:cNvPr id="17" name="TextBox 16"/>
          <p:cNvSpPr txBox="1"/>
          <p:nvPr/>
        </p:nvSpPr>
        <p:spPr>
          <a:xfrm>
            <a:off x="8595360" y="4023360"/>
            <a:ext cx="2834640" cy="457200"/>
          </a:xfrm>
          <a:prstGeom prst="rect">
            <a:avLst/>
          </a:prstGeom>
          <a:noFill/>
        </p:spPr>
        <p:txBody>
          <a:bodyPr wrap="square">
            <a:spAutoFit/>
          </a:bodyPr>
          <a:lstStyle/>
          <a:p>
            <a:pPr algn="ctr"/>
            <a:r>
              <a:rPr sz="1800" b="1">
                <a:solidFill>
                  <a:srgbClr val="A23B72"/>
                </a:solidFill>
              </a:rPr>
              <a:t>30-40% Reduction</a:t>
            </a:r>
          </a:p>
        </p:txBody>
      </p:sp>
      <p:sp>
        <p:nvSpPr>
          <p:cNvPr id="18" name="TextBox 17"/>
          <p:cNvSpPr txBox="1"/>
          <p:nvPr/>
        </p:nvSpPr>
        <p:spPr>
          <a:xfrm>
            <a:off x="8595360" y="4480560"/>
            <a:ext cx="2834640" cy="1097280"/>
          </a:xfrm>
          <a:prstGeom prst="rect">
            <a:avLst/>
          </a:prstGeom>
          <a:noFill/>
        </p:spPr>
        <p:txBody>
          <a:bodyPr wrap="square">
            <a:spAutoFit/>
          </a:bodyPr>
          <a:lstStyle/>
          <a:p>
            <a:pPr algn="ctr"/>
            <a:r>
              <a:rPr sz="1400" b="0">
                <a:solidFill>
                  <a:srgbClr val="6C757D"/>
                </a:solidFill>
              </a:rPr>
              <a:t>Warranty validation
cycle reduction
target achieved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Platform Overview</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Core Capabilities</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474720" cy="1920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920240"/>
            <a:ext cx="548640" cy="54864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t>
            </a:r>
          </a:p>
        </p:txBody>
      </p:sp>
      <p:sp>
        <p:nvSpPr>
          <p:cNvPr id="8" name="TextBox 7"/>
          <p:cNvSpPr txBox="1"/>
          <p:nvPr/>
        </p:nvSpPr>
        <p:spPr>
          <a:xfrm>
            <a:off x="1645920" y="1965960"/>
            <a:ext cx="2377440" cy="457200"/>
          </a:xfrm>
          <a:prstGeom prst="rect">
            <a:avLst/>
          </a:prstGeom>
          <a:noFill/>
        </p:spPr>
        <p:txBody>
          <a:bodyPr wrap="square">
            <a:spAutoFit/>
          </a:bodyPr>
          <a:lstStyle/>
          <a:p>
            <a:pPr algn="l"/>
            <a:r>
              <a:rPr sz="1500" b="1">
                <a:solidFill>
                  <a:srgbClr val="1B3A5C"/>
                </a:solidFill>
              </a:rPr>
              <a:t>Real-time Drift Detection</a:t>
            </a:r>
          </a:p>
        </p:txBody>
      </p:sp>
      <p:sp>
        <p:nvSpPr>
          <p:cNvPr id="9" name="TextBox 8"/>
          <p:cNvSpPr txBox="1"/>
          <p:nvPr/>
        </p:nvSpPr>
        <p:spPr>
          <a:xfrm>
            <a:off x="914400" y="2651760"/>
            <a:ext cx="3108960" cy="731520"/>
          </a:xfrm>
          <a:prstGeom prst="rect">
            <a:avLst/>
          </a:prstGeom>
          <a:noFill/>
        </p:spPr>
        <p:txBody>
          <a:bodyPr wrap="square">
            <a:spAutoFit/>
          </a:bodyPr>
          <a:lstStyle/>
          <a:p>
            <a:pPr algn="l"/>
            <a:r>
              <a:rPr sz="1300" b="0">
                <a:solidFill>
                  <a:srgbClr val="6C757D"/>
                </a:solidFill>
              </a:rPr>
              <a:t>EWMA statistical methods identify gradual degradation</a:t>
            </a:r>
          </a:p>
        </p:txBody>
      </p:sp>
      <p:sp>
        <p:nvSpPr>
          <p:cNvPr id="10" name="Rounded Rectangle 9"/>
          <p:cNvSpPr/>
          <p:nvPr/>
        </p:nvSpPr>
        <p:spPr>
          <a:xfrm>
            <a:off x="4480559" y="1645920"/>
            <a:ext cx="3474720" cy="1920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63439" y="1920240"/>
            <a:ext cx="548640" cy="548640"/>
          </a:xfrm>
          <a:prstGeom prst="ellipse">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t>
            </a:r>
          </a:p>
        </p:txBody>
      </p:sp>
      <p:sp>
        <p:nvSpPr>
          <p:cNvPr id="12" name="TextBox 11"/>
          <p:cNvSpPr txBox="1"/>
          <p:nvPr/>
        </p:nvSpPr>
        <p:spPr>
          <a:xfrm>
            <a:off x="5394959" y="1965960"/>
            <a:ext cx="2377440" cy="457200"/>
          </a:xfrm>
          <a:prstGeom prst="rect">
            <a:avLst/>
          </a:prstGeom>
          <a:noFill/>
        </p:spPr>
        <p:txBody>
          <a:bodyPr wrap="square">
            <a:spAutoFit/>
          </a:bodyPr>
          <a:lstStyle/>
          <a:p>
            <a:pPr algn="l"/>
            <a:r>
              <a:rPr sz="1500" b="1">
                <a:solidFill>
                  <a:srgbClr val="1B3A5C"/>
                </a:solidFill>
              </a:rPr>
              <a:t>Failure Probability</a:t>
            </a:r>
          </a:p>
        </p:txBody>
      </p:sp>
      <p:sp>
        <p:nvSpPr>
          <p:cNvPr id="13" name="TextBox 12"/>
          <p:cNvSpPr txBox="1"/>
          <p:nvPr/>
        </p:nvSpPr>
        <p:spPr>
          <a:xfrm>
            <a:off x="4663439" y="2651760"/>
            <a:ext cx="3108960" cy="731520"/>
          </a:xfrm>
          <a:prstGeom prst="rect">
            <a:avLst/>
          </a:prstGeom>
          <a:noFill/>
        </p:spPr>
        <p:txBody>
          <a:bodyPr wrap="square">
            <a:spAutoFit/>
          </a:bodyPr>
          <a:lstStyle/>
          <a:p>
            <a:pPr algn="l"/>
            <a:r>
              <a:rPr sz="1300" b="0">
                <a:solidFill>
                  <a:srgbClr val="6C757D"/>
                </a:solidFill>
              </a:rPr>
              <a:t>Transparent logistic models with 95% confidence intervals</a:t>
            </a:r>
          </a:p>
        </p:txBody>
      </p:sp>
      <p:sp>
        <p:nvSpPr>
          <p:cNvPr id="14" name="Rounded Rectangle 13"/>
          <p:cNvSpPr/>
          <p:nvPr/>
        </p:nvSpPr>
        <p:spPr>
          <a:xfrm>
            <a:off x="8229599" y="1645920"/>
            <a:ext cx="3474720" cy="1920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79"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t>
            </a:r>
          </a:p>
        </p:txBody>
      </p:sp>
      <p:sp>
        <p:nvSpPr>
          <p:cNvPr id="16" name="TextBox 15"/>
          <p:cNvSpPr txBox="1"/>
          <p:nvPr/>
        </p:nvSpPr>
        <p:spPr>
          <a:xfrm>
            <a:off x="9143999" y="1965960"/>
            <a:ext cx="2377440" cy="457200"/>
          </a:xfrm>
          <a:prstGeom prst="rect">
            <a:avLst/>
          </a:prstGeom>
          <a:noFill/>
        </p:spPr>
        <p:txBody>
          <a:bodyPr wrap="square">
            <a:spAutoFit/>
          </a:bodyPr>
          <a:lstStyle/>
          <a:p>
            <a:pPr algn="l"/>
            <a:r>
              <a:rPr sz="1500" b="1">
                <a:solidFill>
                  <a:srgbClr val="1B3A5C"/>
                </a:solidFill>
              </a:rPr>
              <a:t>Time-to-Failure</a:t>
            </a:r>
          </a:p>
        </p:txBody>
      </p:sp>
      <p:sp>
        <p:nvSpPr>
          <p:cNvPr id="17" name="TextBox 16"/>
          <p:cNvSpPr txBox="1"/>
          <p:nvPr/>
        </p:nvSpPr>
        <p:spPr>
          <a:xfrm>
            <a:off x="8412479" y="2651760"/>
            <a:ext cx="3108960" cy="731520"/>
          </a:xfrm>
          <a:prstGeom prst="rect">
            <a:avLst/>
          </a:prstGeom>
          <a:noFill/>
        </p:spPr>
        <p:txBody>
          <a:bodyPr wrap="square">
            <a:spAutoFit/>
          </a:bodyPr>
          <a:lstStyle/>
          <a:p>
            <a:pPr algn="l"/>
            <a:r>
              <a:rPr sz="1300" b="0">
                <a:solidFill>
                  <a:srgbClr val="6C757D"/>
                </a:solidFill>
              </a:rPr>
              <a:t>Heuristic horizon estimation (0.5h – 72h)</a:t>
            </a:r>
          </a:p>
        </p:txBody>
      </p:sp>
      <p:sp>
        <p:nvSpPr>
          <p:cNvPr id="18" name="Rounded Rectangle 17"/>
          <p:cNvSpPr/>
          <p:nvPr/>
        </p:nvSpPr>
        <p:spPr>
          <a:xfrm>
            <a:off x="731520" y="3931920"/>
            <a:ext cx="3474720" cy="1920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4206240"/>
            <a:ext cx="548640" cy="548640"/>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t>
            </a:r>
          </a:p>
        </p:txBody>
      </p:sp>
      <p:sp>
        <p:nvSpPr>
          <p:cNvPr id="20" name="TextBox 19"/>
          <p:cNvSpPr txBox="1"/>
          <p:nvPr/>
        </p:nvSpPr>
        <p:spPr>
          <a:xfrm>
            <a:off x="1645920" y="4251960"/>
            <a:ext cx="2377440" cy="457200"/>
          </a:xfrm>
          <a:prstGeom prst="rect">
            <a:avLst/>
          </a:prstGeom>
          <a:noFill/>
        </p:spPr>
        <p:txBody>
          <a:bodyPr wrap="square">
            <a:spAutoFit/>
          </a:bodyPr>
          <a:lstStyle/>
          <a:p>
            <a:pPr algn="l"/>
            <a:r>
              <a:rPr sz="1500" b="1">
                <a:solidFill>
                  <a:srgbClr val="1B3A5C"/>
                </a:solidFill>
              </a:rPr>
              <a:t>Automated Alerting</a:t>
            </a:r>
          </a:p>
        </p:txBody>
      </p:sp>
      <p:sp>
        <p:nvSpPr>
          <p:cNvPr id="21" name="TextBox 20"/>
          <p:cNvSpPr txBox="1"/>
          <p:nvPr/>
        </p:nvSpPr>
        <p:spPr>
          <a:xfrm>
            <a:off x="914400" y="4937760"/>
            <a:ext cx="3108960" cy="731520"/>
          </a:xfrm>
          <a:prstGeom prst="rect">
            <a:avLst/>
          </a:prstGeom>
          <a:noFill/>
        </p:spPr>
        <p:txBody>
          <a:bodyPr wrap="square">
            <a:spAutoFit/>
          </a:bodyPr>
          <a:lstStyle/>
          <a:p>
            <a:pPr algn="l"/>
            <a:r>
              <a:rPr sz="1300" b="0">
                <a:solidFill>
                  <a:srgbClr val="6C757D"/>
                </a:solidFill>
              </a:rPr>
              <a:t>De-duplicated, severity-based notifications</a:t>
            </a:r>
          </a:p>
        </p:txBody>
      </p:sp>
      <p:sp>
        <p:nvSpPr>
          <p:cNvPr id="22" name="Rounded Rectangle 21"/>
          <p:cNvSpPr/>
          <p:nvPr/>
        </p:nvSpPr>
        <p:spPr>
          <a:xfrm>
            <a:off x="4480559" y="3931920"/>
            <a:ext cx="3474720" cy="1920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663439" y="4206240"/>
            <a:ext cx="548640" cy="54864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t>
            </a:r>
          </a:p>
        </p:txBody>
      </p:sp>
      <p:sp>
        <p:nvSpPr>
          <p:cNvPr id="24" name="TextBox 23"/>
          <p:cNvSpPr txBox="1"/>
          <p:nvPr/>
        </p:nvSpPr>
        <p:spPr>
          <a:xfrm>
            <a:off x="5394959" y="4251960"/>
            <a:ext cx="2377440" cy="457200"/>
          </a:xfrm>
          <a:prstGeom prst="rect">
            <a:avLst/>
          </a:prstGeom>
          <a:noFill/>
        </p:spPr>
        <p:txBody>
          <a:bodyPr wrap="square">
            <a:spAutoFit/>
          </a:bodyPr>
          <a:lstStyle/>
          <a:p>
            <a:pPr algn="l"/>
            <a:r>
              <a:rPr sz="1500" b="1">
                <a:solidFill>
                  <a:srgbClr val="1B3A5C"/>
                </a:solidFill>
              </a:rPr>
              <a:t>A/B Model Testing</a:t>
            </a:r>
          </a:p>
        </p:txBody>
      </p:sp>
      <p:sp>
        <p:nvSpPr>
          <p:cNvPr id="25" name="TextBox 24"/>
          <p:cNvSpPr txBox="1"/>
          <p:nvPr/>
        </p:nvSpPr>
        <p:spPr>
          <a:xfrm>
            <a:off x="4663439" y="4937760"/>
            <a:ext cx="3108960" cy="731520"/>
          </a:xfrm>
          <a:prstGeom prst="rect">
            <a:avLst/>
          </a:prstGeom>
          <a:noFill/>
        </p:spPr>
        <p:txBody>
          <a:bodyPr wrap="square">
            <a:spAutoFit/>
          </a:bodyPr>
          <a:lstStyle/>
          <a:p>
            <a:pPr algn="l"/>
            <a:r>
              <a:rPr sz="1300" b="0">
                <a:solidFill>
                  <a:srgbClr val="6C757D"/>
                </a:solidFill>
              </a:rPr>
              <a:t>Hash-deterministic routing for honest comparison</a:t>
            </a:r>
          </a:p>
        </p:txBody>
      </p:sp>
      <p:sp>
        <p:nvSpPr>
          <p:cNvPr id="26" name="Rounded Rectangle 25"/>
          <p:cNvSpPr/>
          <p:nvPr/>
        </p:nvSpPr>
        <p:spPr>
          <a:xfrm>
            <a:off x="8229599" y="3931920"/>
            <a:ext cx="3474720" cy="19202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412479" y="4206240"/>
            <a:ext cx="548640" cy="54864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t>
            </a:r>
          </a:p>
        </p:txBody>
      </p:sp>
      <p:sp>
        <p:nvSpPr>
          <p:cNvPr id="28" name="TextBox 27"/>
          <p:cNvSpPr txBox="1"/>
          <p:nvPr/>
        </p:nvSpPr>
        <p:spPr>
          <a:xfrm>
            <a:off x="9143999" y="4251960"/>
            <a:ext cx="2377440" cy="457200"/>
          </a:xfrm>
          <a:prstGeom prst="rect">
            <a:avLst/>
          </a:prstGeom>
          <a:noFill/>
        </p:spPr>
        <p:txBody>
          <a:bodyPr wrap="square">
            <a:spAutoFit/>
          </a:bodyPr>
          <a:lstStyle/>
          <a:p>
            <a:pPr algn="l"/>
            <a:r>
              <a:rPr sz="1500" b="1">
                <a:solidFill>
                  <a:srgbClr val="1B3A5C"/>
                </a:solidFill>
              </a:rPr>
              <a:t>ROI Quantification</a:t>
            </a:r>
          </a:p>
        </p:txBody>
      </p:sp>
      <p:sp>
        <p:nvSpPr>
          <p:cNvPr id="29" name="TextBox 28"/>
          <p:cNvSpPr txBox="1"/>
          <p:nvPr/>
        </p:nvSpPr>
        <p:spPr>
          <a:xfrm>
            <a:off x="8412479" y="4937760"/>
            <a:ext cx="3108960" cy="731520"/>
          </a:xfrm>
          <a:prstGeom prst="rect">
            <a:avLst/>
          </a:prstGeom>
          <a:noFill/>
        </p:spPr>
        <p:txBody>
          <a:bodyPr wrap="square">
            <a:spAutoFit/>
          </a:bodyPr>
          <a:lstStyle/>
          <a:p>
            <a:pPr algn="l"/>
            <a:r>
              <a:rPr sz="1300" b="0">
                <a:solidFill>
                  <a:srgbClr val="6C757D"/>
                </a:solidFill>
              </a:rPr>
              <a:t>Real-time warranty savings projections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Battery Thermal Management</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Target Subsystem — Telemetry Signals</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10515600" cy="73152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a:solidFill>
                  <a:srgbClr val="1B3A5C"/>
                </a:solidFill>
              </a:rPr>
              <a:t>💡 EV battery packs stream the richest telemetry on the CAN bus — thermal events drive the largest single warranty cost line for EV OEMs</a:t>
            </a:r>
          </a:p>
        </p:txBody>
      </p:sp>
      <p:graphicFrame>
        <p:nvGraphicFramePr>
          <p:cNvPr id="7" name="Table 6"/>
          <p:cNvGraphicFramePr>
            <a:graphicFrameLocks noGrp="1"/>
          </p:cNvGraphicFramePr>
          <p:nvPr/>
        </p:nvGraphicFramePr>
        <p:xfrm>
          <a:off x="731520" y="2560320"/>
          <a:ext cx="10515600" cy="3200400"/>
        </p:xfrm>
        <a:graphic>
          <a:graphicData uri="http://schemas.openxmlformats.org/drawingml/2006/table">
            <a:tbl>
              <a:tblPr firstRow="1" bandRow="1">
                <a:tableStyleId>{5C22544A-7EE6-4342-B048-85BDC9FD1C3A}</a:tableStyleId>
              </a:tblPr>
              <a:tblGrid>
                <a:gridCol w="2926080"/>
                <a:gridCol w="1371600"/>
                <a:gridCol w="2103120"/>
                <a:gridCol w="4114800"/>
              </a:tblGrid>
              <a:tr h="533400">
                <a:tc>
                  <a:txBody>
                    <a:bodyPr/>
                    <a:lstStyle/>
                    <a:p>
                      <a:pPr>
                        <a:defRPr sz="1300" b="1">
                          <a:solidFill>
                            <a:srgbClr val="FFFFFF"/>
                          </a:solidFill>
                        </a:defRPr>
                      </a:pPr>
                      <a:r>
                        <a:t>Signal</a:t>
                      </a:r>
                    </a:p>
                  </a:txBody>
                  <a:tcPr>
                    <a:solidFill>
                      <a:srgbClr val="1B3A5C"/>
                    </a:solidFill>
                  </a:tcPr>
                </a:tc>
                <a:tc>
                  <a:txBody>
                    <a:bodyPr/>
                    <a:lstStyle/>
                    <a:p>
                      <a:pPr>
                        <a:defRPr sz="1300" b="1">
                          <a:solidFill>
                            <a:srgbClr val="FFFFFF"/>
                          </a:solidFill>
                        </a:defRPr>
                      </a:pPr>
                      <a:r>
                        <a:t>Unit</a:t>
                      </a:r>
                    </a:p>
                  </a:txBody>
                  <a:tcPr>
                    <a:solidFill>
                      <a:srgbClr val="1B3A5C"/>
                    </a:solidFill>
                  </a:tcPr>
                </a:tc>
                <a:tc>
                  <a:txBody>
                    <a:bodyPr/>
                    <a:lstStyle/>
                    <a:p>
                      <a:pPr>
                        <a:defRPr sz="1300" b="1">
                          <a:solidFill>
                            <a:srgbClr val="FFFFFF"/>
                          </a:solidFill>
                        </a:defRPr>
                      </a:pPr>
                      <a:r>
                        <a:t>Source</a:t>
                      </a:r>
                    </a:p>
                  </a:txBody>
                  <a:tcPr>
                    <a:solidFill>
                      <a:srgbClr val="1B3A5C"/>
                    </a:solidFill>
                  </a:tcPr>
                </a:tc>
                <a:tc>
                  <a:txBody>
                    <a:bodyPr/>
                    <a:lstStyle/>
                    <a:p>
                      <a:pPr>
                        <a:defRPr sz="1300" b="1">
                          <a:solidFill>
                            <a:srgbClr val="FFFFFF"/>
                          </a:solidFill>
                        </a:defRPr>
                      </a:pPr>
                      <a:r>
                        <a:t>Purpose</a:t>
                      </a:r>
                    </a:p>
                  </a:txBody>
                  <a:tcPr>
                    <a:solidFill>
                      <a:srgbClr val="1B3A5C"/>
                    </a:solidFill>
                  </a:tcPr>
                </a:tc>
              </a:tr>
              <a:tr h="533400">
                <a:tc>
                  <a:txBody>
                    <a:bodyPr/>
                    <a:lstStyle/>
                    <a:p>
                      <a:pPr>
                        <a:defRPr sz="1300">
                          <a:solidFill>
                            <a:srgbClr val="2C3E50"/>
                          </a:solidFill>
                        </a:defRPr>
                      </a:pPr>
                      <a:r>
                        <a:t>Max Cell Temperature</a:t>
                      </a:r>
                    </a:p>
                  </a:txBody>
                  <a:tcPr/>
                </a:tc>
                <a:tc>
                  <a:txBody>
                    <a:bodyPr/>
                    <a:lstStyle/>
                    <a:p>
                      <a:pPr>
                        <a:defRPr sz="1300">
                          <a:solidFill>
                            <a:srgbClr val="2C3E50"/>
                          </a:solidFill>
                        </a:defRPr>
                      </a:pPr>
                      <a:r>
                        <a:t>°C</a:t>
                      </a:r>
                    </a:p>
                  </a:txBody>
                  <a:tcPr/>
                </a:tc>
                <a:tc>
                  <a:txBody>
                    <a:bodyPr/>
                    <a:lstStyle/>
                    <a:p>
                      <a:pPr>
                        <a:defRPr sz="1300">
                          <a:solidFill>
                            <a:srgbClr val="2C3E50"/>
                          </a:solidFill>
                        </a:defRPr>
                      </a:pPr>
                      <a:r>
                        <a:t>CAN Bus</a:t>
                      </a:r>
                    </a:p>
                  </a:txBody>
                  <a:tcPr/>
                </a:tc>
                <a:tc>
                  <a:txBody>
                    <a:bodyPr/>
                    <a:lstStyle/>
                    <a:p>
                      <a:pPr>
                        <a:defRPr sz="1300">
                          <a:solidFill>
                            <a:srgbClr val="2C3E50"/>
                          </a:solidFill>
                        </a:defRPr>
                      </a:pPr>
                      <a:r>
                        <a:t>Pack thermal state indicator</a:t>
                      </a:r>
                    </a:p>
                  </a:txBody>
                  <a:tcPr/>
                </a:tc>
              </a:tr>
              <a:tr h="533400">
                <a:tc>
                  <a:txBody>
                    <a:bodyPr/>
                    <a:lstStyle/>
                    <a:p>
                      <a:pPr>
                        <a:defRPr sz="1300">
                          <a:solidFill>
                            <a:srgbClr val="2C3E50"/>
                          </a:solidFill>
                        </a:defRPr>
                      </a:pPr>
                      <a:r>
                        <a:t>Coolant ΔT (out − in)</a:t>
                      </a:r>
                    </a:p>
                  </a:txBody>
                  <a:tcPr>
                    <a:solidFill>
                      <a:srgbClr val="F0F4F8"/>
                    </a:solidFill>
                  </a:tcPr>
                </a:tc>
                <a:tc>
                  <a:txBody>
                    <a:bodyPr/>
                    <a:lstStyle/>
                    <a:p>
                      <a:pPr>
                        <a:defRPr sz="1300">
                          <a:solidFill>
                            <a:srgbClr val="2C3E50"/>
                          </a:solidFill>
                        </a:defRPr>
                      </a:pPr>
                      <a:r>
                        <a:t>°C</a:t>
                      </a:r>
                    </a:p>
                  </a:txBody>
                  <a:tcPr>
                    <a:solidFill>
                      <a:srgbClr val="F0F4F8"/>
                    </a:solidFill>
                  </a:tcPr>
                </a:tc>
                <a:tc>
                  <a:txBody>
                    <a:bodyPr/>
                    <a:lstStyle/>
                    <a:p>
                      <a:pPr>
                        <a:defRPr sz="1300">
                          <a:solidFill>
                            <a:srgbClr val="2C3E50"/>
                          </a:solidFill>
                        </a:defRPr>
                      </a:pPr>
                      <a:r>
                        <a:t>Sensors</a:t>
                      </a:r>
                    </a:p>
                  </a:txBody>
                  <a:tcPr>
                    <a:solidFill>
                      <a:srgbClr val="F0F4F8"/>
                    </a:solidFill>
                  </a:tcPr>
                </a:tc>
                <a:tc>
                  <a:txBody>
                    <a:bodyPr/>
                    <a:lstStyle/>
                    <a:p>
                      <a:pPr>
                        <a:defRPr sz="1300">
                          <a:solidFill>
                            <a:srgbClr val="2C3E50"/>
                          </a:solidFill>
                        </a:defRPr>
                      </a:pPr>
                      <a:r>
                        <a:t>Cooling system effectiveness</a:t>
                      </a:r>
                    </a:p>
                  </a:txBody>
                  <a:tcPr>
                    <a:solidFill>
                      <a:srgbClr val="F0F4F8"/>
                    </a:solidFill>
                  </a:tcPr>
                </a:tc>
              </a:tr>
              <a:tr h="533400">
                <a:tc>
                  <a:txBody>
                    <a:bodyPr/>
                    <a:lstStyle/>
                    <a:p>
                      <a:pPr>
                        <a:defRPr sz="1300">
                          <a:solidFill>
                            <a:srgbClr val="2C3E50"/>
                          </a:solidFill>
                        </a:defRPr>
                      </a:pPr>
                      <a:r>
                        <a:t>Coolant Flow Rate</a:t>
                      </a:r>
                    </a:p>
                  </a:txBody>
                  <a:tcPr/>
                </a:tc>
                <a:tc>
                  <a:txBody>
                    <a:bodyPr/>
                    <a:lstStyle/>
                    <a:p>
                      <a:pPr>
                        <a:defRPr sz="1300">
                          <a:solidFill>
                            <a:srgbClr val="2C3E50"/>
                          </a:solidFill>
                        </a:defRPr>
                      </a:pPr>
                      <a:r>
                        <a:t>L/min</a:t>
                      </a:r>
                    </a:p>
                  </a:txBody>
                  <a:tcPr/>
                </a:tc>
                <a:tc>
                  <a:txBody>
                    <a:bodyPr/>
                    <a:lstStyle/>
                    <a:p>
                      <a:pPr>
                        <a:defRPr sz="1300">
                          <a:solidFill>
                            <a:srgbClr val="2C3E50"/>
                          </a:solidFill>
                        </a:defRPr>
                      </a:pPr>
                      <a:r>
                        <a:t>Flow sensor</a:t>
                      </a:r>
                    </a:p>
                  </a:txBody>
                  <a:tcPr/>
                </a:tc>
                <a:tc>
                  <a:txBody>
                    <a:bodyPr/>
                    <a:lstStyle/>
                    <a:p>
                      <a:pPr>
                        <a:defRPr sz="1300">
                          <a:solidFill>
                            <a:srgbClr val="2C3E50"/>
                          </a:solidFill>
                        </a:defRPr>
                      </a:pPr>
                      <a:r>
                        <a:t>Pump health proxy</a:t>
                      </a:r>
                    </a:p>
                  </a:txBody>
                  <a:tcPr/>
                </a:tc>
              </a:tr>
              <a:tr h="533400">
                <a:tc>
                  <a:txBody>
                    <a:bodyPr/>
                    <a:lstStyle/>
                    <a:p>
                      <a:pPr>
                        <a:defRPr sz="1300">
                          <a:solidFill>
                            <a:srgbClr val="2C3E50"/>
                          </a:solidFill>
                        </a:defRPr>
                      </a:pPr>
                      <a:r>
                        <a:t>Pack Current</a:t>
                      </a:r>
                    </a:p>
                  </a:txBody>
                  <a:tcPr>
                    <a:solidFill>
                      <a:srgbClr val="F0F4F8"/>
                    </a:solidFill>
                  </a:tcPr>
                </a:tc>
                <a:tc>
                  <a:txBody>
                    <a:bodyPr/>
                    <a:lstStyle/>
                    <a:p>
                      <a:pPr>
                        <a:defRPr sz="1300">
                          <a:solidFill>
                            <a:srgbClr val="2C3E50"/>
                          </a:solidFill>
                        </a:defRPr>
                      </a:pPr>
                      <a:r>
                        <a:t>A</a:t>
                      </a:r>
                    </a:p>
                  </a:txBody>
                  <a:tcPr>
                    <a:solidFill>
                      <a:srgbClr val="F0F4F8"/>
                    </a:solidFill>
                  </a:tcPr>
                </a:tc>
                <a:tc>
                  <a:txBody>
                    <a:bodyPr/>
                    <a:lstStyle/>
                    <a:p>
                      <a:pPr>
                        <a:defRPr sz="1300">
                          <a:solidFill>
                            <a:srgbClr val="2C3E50"/>
                          </a:solidFill>
                        </a:defRPr>
                      </a:pPr>
                      <a:r>
                        <a:t>BMS</a:t>
                      </a:r>
                    </a:p>
                  </a:txBody>
                  <a:tcPr>
                    <a:solidFill>
                      <a:srgbClr val="F0F4F8"/>
                    </a:solidFill>
                  </a:tcPr>
                </a:tc>
                <a:tc>
                  <a:txBody>
                    <a:bodyPr/>
                    <a:lstStyle/>
                    <a:p>
                      <a:pPr>
                        <a:defRPr sz="1300">
                          <a:solidFill>
                            <a:srgbClr val="2C3E50"/>
                          </a:solidFill>
                        </a:defRPr>
                      </a:pPr>
                      <a:r>
                        <a:t>Thermal load driver</a:t>
                      </a:r>
                    </a:p>
                  </a:txBody>
                  <a:tcPr>
                    <a:solidFill>
                      <a:srgbClr val="F0F4F8"/>
                    </a:solidFill>
                  </a:tcPr>
                </a:tc>
              </a:tr>
              <a:tr h="533400">
                <a:tc>
                  <a:txBody>
                    <a:bodyPr/>
                    <a:lstStyle/>
                    <a:p>
                      <a:pPr>
                        <a:defRPr sz="1300">
                          <a:solidFill>
                            <a:srgbClr val="2C3E50"/>
                          </a:solidFill>
                        </a:defRPr>
                      </a:pPr>
                      <a:r>
                        <a:t>State of Charge</a:t>
                      </a:r>
                    </a:p>
                  </a:txBody>
                  <a:tcPr/>
                </a:tc>
                <a:tc>
                  <a:txBody>
                    <a:bodyPr/>
                    <a:lstStyle/>
                    <a:p>
                      <a:pPr>
                        <a:defRPr sz="1300">
                          <a:solidFill>
                            <a:srgbClr val="2C3E50"/>
                          </a:solidFill>
                        </a:defRPr>
                      </a:pPr>
                      <a:r>
                        <a:t>%</a:t>
                      </a:r>
                    </a:p>
                  </a:txBody>
                  <a:tcPr/>
                </a:tc>
                <a:tc>
                  <a:txBody>
                    <a:bodyPr/>
                    <a:lstStyle/>
                    <a:p>
                      <a:pPr>
                        <a:defRPr sz="1300">
                          <a:solidFill>
                            <a:srgbClr val="2C3E50"/>
                          </a:solidFill>
                        </a:defRPr>
                      </a:pPr>
                      <a:r>
                        <a:t>BMS</a:t>
                      </a:r>
                    </a:p>
                  </a:txBody>
                  <a:tcPr/>
                </a:tc>
                <a:tc>
                  <a:txBody>
                    <a:bodyPr/>
                    <a:lstStyle/>
                    <a:p>
                      <a:pPr>
                        <a:defRPr sz="1300">
                          <a:solidFill>
                            <a:srgbClr val="2C3E50"/>
                          </a:solidFill>
                        </a:defRPr>
                      </a:pPr>
                      <a:r>
                        <a:t>Operating context</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System Architecture</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Service-Oriented Design (SOA)</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828800" y="1645920"/>
            <a:ext cx="8229600" cy="1005840"/>
          </a:xfrm>
          <a:prstGeom prst="roundRect">
            <a:avLst/>
          </a:prstGeom>
          <a:solidFill>
            <a:srgbClr val="E3F2FD"/>
          </a:solidFill>
          <a:ln w="254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B3A5C"/>
                </a:solidFill>
              </a:rPr>
              <a:t>🖥️  Single-Page Dashboard (HTML/JS + Plotly Charts)</a:t>
            </a:r>
          </a:p>
          <a:p>
            <a:pPr algn="ctr"/>
            <a:r>
              <a:rPr sz="1200">
                <a:solidFill>
                  <a:srgbClr val="6C757D"/>
                </a:solidFill>
              </a:rPr>
              <a:t>Drill-down • Real-time Updates • Exports • Reports</a:t>
            </a:r>
          </a:p>
        </p:txBody>
      </p:sp>
      <p:sp>
        <p:nvSpPr>
          <p:cNvPr id="7" name="TextBox 6"/>
          <p:cNvSpPr txBox="1"/>
          <p:nvPr/>
        </p:nvSpPr>
        <p:spPr>
          <a:xfrm>
            <a:off x="5486400" y="2651760"/>
            <a:ext cx="1371600" cy="457200"/>
          </a:xfrm>
          <a:prstGeom prst="rect">
            <a:avLst/>
          </a:prstGeom>
          <a:noFill/>
        </p:spPr>
        <p:txBody>
          <a:bodyPr wrap="square">
            <a:spAutoFit/>
          </a:bodyPr>
          <a:lstStyle/>
          <a:p>
            <a:pPr algn="ctr"/>
            <a:r>
              <a:rPr sz="1100" b="0">
                <a:solidFill>
                  <a:srgbClr val="2E86AB"/>
                </a:solidFill>
              </a:rPr>
              <a:t>▼ REST/JSON</a:t>
            </a:r>
          </a:p>
        </p:txBody>
      </p:sp>
      <p:sp>
        <p:nvSpPr>
          <p:cNvPr id="8" name="Rounded Rectangle 7"/>
          <p:cNvSpPr/>
          <p:nvPr/>
        </p:nvSpPr>
        <p:spPr>
          <a:xfrm>
            <a:off x="1828800" y="3017520"/>
            <a:ext cx="8229600" cy="1005840"/>
          </a:xfrm>
          <a:prstGeom prst="roundRect">
            <a:avLst/>
          </a:prstGeom>
          <a:solidFill>
            <a:srgbClr val="FFF3E0"/>
          </a:solidFill>
          <a:ln w="254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B3A5C"/>
                </a:solidFill>
              </a:rPr>
              <a:t>⚙️  Flask API Layer (app/api/routes.py)</a:t>
            </a:r>
          </a:p>
          <a:p>
            <a:pPr algn="ctr"/>
            <a:r>
              <a:rPr sz="1100">
                <a:solidFill>
                  <a:srgbClr val="6C757D"/>
                </a:solidFill>
              </a:rPr>
              <a:t>/api/fleet • /api/vehicles • /api/alerts • /api/models • /api/roi • /api/config</a:t>
            </a:r>
          </a:p>
        </p:txBody>
      </p:sp>
      <p:sp>
        <p:nvSpPr>
          <p:cNvPr id="9" name="Rounded Rectangle 8"/>
          <p:cNvSpPr/>
          <p:nvPr/>
        </p:nvSpPr>
        <p:spPr>
          <a:xfrm>
            <a:off x="1371600" y="4480560"/>
            <a:ext cx="3017520" cy="1828800"/>
          </a:xfrm>
          <a:prstGeom prst="roundRect">
            <a:avLst/>
          </a:prstGeom>
          <a:solidFill>
            <a:srgbClr val="E8F5E9"/>
          </a:solidFill>
          <a:ln w="254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3A5C"/>
                </a:solidFill>
              </a:rPr>
              <a:t>🔌 Subsystem
Registry</a:t>
            </a:r>
          </a:p>
          <a:p>
            <a:pPr algn="ctr"/>
            <a:r>
              <a:rPr sz="1100">
                <a:solidFill>
                  <a:srgbClr val="6C757D"/>
                </a:solidFill>
              </a:rPr>
              <a:t>battery_thermal
+ HVAC / infotainment</a:t>
            </a:r>
          </a:p>
        </p:txBody>
      </p:sp>
      <p:sp>
        <p:nvSpPr>
          <p:cNvPr id="10" name="Rounded Rectangle 9"/>
          <p:cNvSpPr/>
          <p:nvPr/>
        </p:nvSpPr>
        <p:spPr>
          <a:xfrm>
            <a:off x="4846320" y="4480560"/>
            <a:ext cx="3017520" cy="1828800"/>
          </a:xfrm>
          <a:prstGeom prst="roundRect">
            <a:avLst/>
          </a:prstGeom>
          <a:solidFill>
            <a:srgbClr val="F3E5F5"/>
          </a:solidFill>
          <a:ln w="25400">
            <a:solidFill>
              <a:srgbClr val="A23B7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3A5C"/>
                </a:solidFill>
              </a:rPr>
              <a:t>🧠 Models &amp;
A/B Testing</a:t>
            </a:r>
          </a:p>
          <a:p>
            <a:pPr algn="ctr"/>
            <a:r>
              <a:rPr sz="1100">
                <a:solidFill>
                  <a:srgbClr val="6C757D"/>
                </a:solidFill>
              </a:rPr>
              <a:t>DriftDetector (EWMA)
FailureModel Registry</a:t>
            </a:r>
          </a:p>
        </p:txBody>
      </p:sp>
      <p:sp>
        <p:nvSpPr>
          <p:cNvPr id="11" name="Rounded Rectangle 10"/>
          <p:cNvSpPr/>
          <p:nvPr/>
        </p:nvSpPr>
        <p:spPr>
          <a:xfrm>
            <a:off x="8321040" y="4480560"/>
            <a:ext cx="3017520" cy="1828800"/>
          </a:xfrm>
          <a:prstGeom prst="roundRect">
            <a:avLst/>
          </a:prstGeom>
          <a:solidFill>
            <a:srgbClr val="FFF8E1"/>
          </a:solidFill>
          <a:ln w="25400">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3A5C"/>
                </a:solidFill>
              </a:rPr>
              <a:t>🛠️ Services</a:t>
            </a:r>
          </a:p>
          <a:p>
            <a:pPr algn="ctr"/>
            <a:r>
              <a:rPr sz="1100">
                <a:solidFill>
                  <a:srgbClr val="6C757D"/>
                </a:solidFill>
              </a:rPr>
              <a:t>FleetManager • Alerts
ROI • Feedback • Cases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Design Principles</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Key Architectural Decisions</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554480"/>
            <a:ext cx="548640" cy="54864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t>
            </a:r>
          </a:p>
        </p:txBody>
      </p:sp>
      <p:sp>
        <p:nvSpPr>
          <p:cNvPr id="7" name="TextBox 6"/>
          <p:cNvSpPr txBox="1"/>
          <p:nvPr/>
        </p:nvSpPr>
        <p:spPr>
          <a:xfrm>
            <a:off x="1554480" y="1554480"/>
            <a:ext cx="2743200" cy="457200"/>
          </a:xfrm>
          <a:prstGeom prst="rect">
            <a:avLst/>
          </a:prstGeom>
          <a:noFill/>
        </p:spPr>
        <p:txBody>
          <a:bodyPr wrap="square">
            <a:spAutoFit/>
          </a:bodyPr>
          <a:lstStyle/>
          <a:p>
            <a:pPr algn="l"/>
            <a:r>
              <a:rPr sz="1600" b="1">
                <a:solidFill>
                  <a:srgbClr val="1B3A5C"/>
                </a:solidFill>
              </a:rPr>
              <a:t>Subsystem Registry</a:t>
            </a:r>
          </a:p>
        </p:txBody>
      </p:sp>
      <p:sp>
        <p:nvSpPr>
          <p:cNvPr id="8" name="TextBox 7"/>
          <p:cNvSpPr txBox="1"/>
          <p:nvPr/>
        </p:nvSpPr>
        <p:spPr>
          <a:xfrm>
            <a:off x="4114800" y="1600200"/>
            <a:ext cx="7315200" cy="457200"/>
          </a:xfrm>
          <a:prstGeom prst="rect">
            <a:avLst/>
          </a:prstGeom>
          <a:noFill/>
        </p:spPr>
        <p:txBody>
          <a:bodyPr wrap="square">
            <a:spAutoFit/>
          </a:bodyPr>
          <a:lstStyle/>
          <a:p>
            <a:pPr algn="l"/>
            <a:r>
              <a:rPr sz="1400" b="0">
                <a:solidFill>
                  <a:srgbClr val="2C3E50"/>
                </a:solidFill>
              </a:rPr>
              <a:t>Drop a new class implementing Subsystem interface → API + UI auto-discover</a:t>
            </a:r>
          </a:p>
        </p:txBody>
      </p:sp>
      <p:sp>
        <p:nvSpPr>
          <p:cNvPr id="9" name="Rectangle 8"/>
          <p:cNvSpPr/>
          <p:nvPr/>
        </p:nvSpPr>
        <p:spPr>
          <a:xfrm>
            <a:off x="731520" y="2331720"/>
            <a:ext cx="10515600" cy="914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25603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t>
            </a:r>
          </a:p>
        </p:txBody>
      </p:sp>
      <p:sp>
        <p:nvSpPr>
          <p:cNvPr id="11" name="TextBox 10"/>
          <p:cNvSpPr txBox="1"/>
          <p:nvPr/>
        </p:nvSpPr>
        <p:spPr>
          <a:xfrm>
            <a:off x="1554480" y="2560320"/>
            <a:ext cx="2743200" cy="457200"/>
          </a:xfrm>
          <a:prstGeom prst="rect">
            <a:avLst/>
          </a:prstGeom>
          <a:noFill/>
        </p:spPr>
        <p:txBody>
          <a:bodyPr wrap="square">
            <a:spAutoFit/>
          </a:bodyPr>
          <a:lstStyle/>
          <a:p>
            <a:pPr algn="l"/>
            <a:r>
              <a:rPr sz="1600" b="1">
                <a:solidFill>
                  <a:srgbClr val="1B3A5C"/>
                </a:solidFill>
              </a:rPr>
              <a:t>Mutable Config</a:t>
            </a:r>
          </a:p>
        </p:txBody>
      </p:sp>
      <p:sp>
        <p:nvSpPr>
          <p:cNvPr id="12" name="TextBox 11"/>
          <p:cNvSpPr txBox="1"/>
          <p:nvPr/>
        </p:nvSpPr>
        <p:spPr>
          <a:xfrm>
            <a:off x="4114800" y="2606040"/>
            <a:ext cx="7315200" cy="457200"/>
          </a:xfrm>
          <a:prstGeom prst="rect">
            <a:avLst/>
          </a:prstGeom>
          <a:noFill/>
        </p:spPr>
        <p:txBody>
          <a:bodyPr wrap="square">
            <a:spAutoFit/>
          </a:bodyPr>
          <a:lstStyle/>
          <a:p>
            <a:pPr algn="l"/>
            <a:r>
              <a:rPr sz="1400" b="0">
                <a:solidFill>
                  <a:srgbClr val="2C3E50"/>
                </a:solidFill>
              </a:rPr>
              <a:t>Runtime PATCH /api/config — tune per-customer without redeploying</a:t>
            </a:r>
          </a:p>
        </p:txBody>
      </p:sp>
      <p:sp>
        <p:nvSpPr>
          <p:cNvPr id="13" name="Rectangle 12"/>
          <p:cNvSpPr/>
          <p:nvPr/>
        </p:nvSpPr>
        <p:spPr>
          <a:xfrm>
            <a:off x="731520" y="3337560"/>
            <a:ext cx="10515600" cy="914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31520" y="3566160"/>
            <a:ext cx="548640" cy="548640"/>
          </a:xfrm>
          <a:prstGeom prst="ellipse">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t>
            </a:r>
          </a:p>
        </p:txBody>
      </p:sp>
      <p:sp>
        <p:nvSpPr>
          <p:cNvPr id="15" name="TextBox 14"/>
          <p:cNvSpPr txBox="1"/>
          <p:nvPr/>
        </p:nvSpPr>
        <p:spPr>
          <a:xfrm>
            <a:off x="1554480" y="3566160"/>
            <a:ext cx="2743200" cy="457200"/>
          </a:xfrm>
          <a:prstGeom prst="rect">
            <a:avLst/>
          </a:prstGeom>
          <a:noFill/>
        </p:spPr>
        <p:txBody>
          <a:bodyPr wrap="square">
            <a:spAutoFit/>
          </a:bodyPr>
          <a:lstStyle/>
          <a:p>
            <a:pPr algn="l"/>
            <a:r>
              <a:rPr sz="1600" b="1">
                <a:solidFill>
                  <a:srgbClr val="1B3A5C"/>
                </a:solidFill>
              </a:rPr>
              <a:t>Versioned Models</a:t>
            </a:r>
          </a:p>
        </p:txBody>
      </p:sp>
      <p:sp>
        <p:nvSpPr>
          <p:cNvPr id="16" name="TextBox 15"/>
          <p:cNvSpPr txBox="1"/>
          <p:nvPr/>
        </p:nvSpPr>
        <p:spPr>
          <a:xfrm>
            <a:off x="4114800" y="3611880"/>
            <a:ext cx="7315200" cy="457200"/>
          </a:xfrm>
          <a:prstGeom prst="rect">
            <a:avLst/>
          </a:prstGeom>
          <a:noFill/>
        </p:spPr>
        <p:txBody>
          <a:bodyPr wrap="square">
            <a:spAutoFit/>
          </a:bodyPr>
          <a:lstStyle/>
          <a:p>
            <a:pPr algn="l"/>
            <a:r>
              <a:rPr sz="1400" b="0">
                <a:solidFill>
                  <a:srgbClr val="2C3E50"/>
                </a:solidFill>
              </a:rPr>
              <a:t>Named, versioned models in FailureModelRegistry — promote via API</a:t>
            </a:r>
          </a:p>
        </p:txBody>
      </p:sp>
      <p:sp>
        <p:nvSpPr>
          <p:cNvPr id="17" name="Rectangle 16"/>
          <p:cNvSpPr/>
          <p:nvPr/>
        </p:nvSpPr>
        <p:spPr>
          <a:xfrm>
            <a:off x="731520" y="4343400"/>
            <a:ext cx="10515600" cy="914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572000"/>
            <a:ext cx="548640" cy="54864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t>
            </a:r>
          </a:p>
        </p:txBody>
      </p:sp>
      <p:sp>
        <p:nvSpPr>
          <p:cNvPr id="19" name="TextBox 18"/>
          <p:cNvSpPr txBox="1"/>
          <p:nvPr/>
        </p:nvSpPr>
        <p:spPr>
          <a:xfrm>
            <a:off x="1554480" y="4572000"/>
            <a:ext cx="2743200" cy="457200"/>
          </a:xfrm>
          <a:prstGeom prst="rect">
            <a:avLst/>
          </a:prstGeom>
          <a:noFill/>
        </p:spPr>
        <p:txBody>
          <a:bodyPr wrap="square">
            <a:spAutoFit/>
          </a:bodyPr>
          <a:lstStyle/>
          <a:p>
            <a:pPr algn="l"/>
            <a:r>
              <a:rPr sz="1600" b="1">
                <a:solidFill>
                  <a:srgbClr val="1B3A5C"/>
                </a:solidFill>
              </a:rPr>
              <a:t>Deterministic A/B</a:t>
            </a:r>
          </a:p>
        </p:txBody>
      </p:sp>
      <p:sp>
        <p:nvSpPr>
          <p:cNvPr id="20" name="TextBox 19"/>
          <p:cNvSpPr txBox="1"/>
          <p:nvPr/>
        </p:nvSpPr>
        <p:spPr>
          <a:xfrm>
            <a:off x="4114800" y="4617720"/>
            <a:ext cx="7315200" cy="457200"/>
          </a:xfrm>
          <a:prstGeom prst="rect">
            <a:avLst/>
          </a:prstGeom>
          <a:noFill/>
        </p:spPr>
        <p:txBody>
          <a:bodyPr wrap="square">
            <a:spAutoFit/>
          </a:bodyPr>
          <a:lstStyle/>
          <a:p>
            <a:pPr algn="l"/>
            <a:r>
              <a:rPr sz="1400" b="0">
                <a:solidFill>
                  <a:srgbClr val="2C3E50"/>
                </a:solidFill>
              </a:rPr>
              <a:t>hash(VIN) routing — same vehicle always same arm for valid measurement</a:t>
            </a:r>
          </a:p>
        </p:txBody>
      </p:sp>
      <p:sp>
        <p:nvSpPr>
          <p:cNvPr id="21" name="Rectangle 20"/>
          <p:cNvSpPr/>
          <p:nvPr/>
        </p:nvSpPr>
        <p:spPr>
          <a:xfrm>
            <a:off x="731520" y="5349240"/>
            <a:ext cx="10515600" cy="914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5577840"/>
            <a:ext cx="548640" cy="548640"/>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t>
            </a:r>
          </a:p>
        </p:txBody>
      </p:sp>
      <p:sp>
        <p:nvSpPr>
          <p:cNvPr id="23" name="TextBox 22"/>
          <p:cNvSpPr txBox="1"/>
          <p:nvPr/>
        </p:nvSpPr>
        <p:spPr>
          <a:xfrm>
            <a:off x="1554480" y="5577840"/>
            <a:ext cx="2743200" cy="457200"/>
          </a:xfrm>
          <a:prstGeom prst="rect">
            <a:avLst/>
          </a:prstGeom>
          <a:noFill/>
        </p:spPr>
        <p:txBody>
          <a:bodyPr wrap="square">
            <a:spAutoFit/>
          </a:bodyPr>
          <a:lstStyle/>
          <a:p>
            <a:pPr algn="l"/>
            <a:r>
              <a:rPr sz="1600" b="1">
                <a:solidFill>
                  <a:srgbClr val="1B3A5C"/>
                </a:solidFill>
              </a:rPr>
              <a:t>Feedback Loop</a:t>
            </a:r>
          </a:p>
        </p:txBody>
      </p:sp>
      <p:sp>
        <p:nvSpPr>
          <p:cNvPr id="24" name="TextBox 23"/>
          <p:cNvSpPr txBox="1"/>
          <p:nvPr/>
        </p:nvSpPr>
        <p:spPr>
          <a:xfrm>
            <a:off x="4114800" y="5623560"/>
            <a:ext cx="7315200" cy="457200"/>
          </a:xfrm>
          <a:prstGeom prst="rect">
            <a:avLst/>
          </a:prstGeom>
          <a:noFill/>
        </p:spPr>
        <p:txBody>
          <a:bodyPr wrap="square">
            <a:spAutoFit/>
          </a:bodyPr>
          <a:lstStyle/>
          <a:p>
            <a:pPr algn="l"/>
            <a:r>
              <a:rPr sz="1400" b="0">
                <a:solidFill>
                  <a:srgbClr val="2C3E50"/>
                </a:solidFill>
              </a:rPr>
              <a:t>Customer annotations → retrain trigger → new version → version history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Predictive Pipeline</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End-to-End Data Flow</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2011680"/>
            <a:ext cx="1645920" cy="1645920"/>
          </a:xfrm>
          <a:prstGeom prst="roundRect">
            <a:avLst/>
          </a:prstGeom>
          <a:solidFill>
            <a:srgbClr val="E3F2FD"/>
          </a:solidFill>
          <a:ln w="254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B3A5C"/>
                </a:solidFill>
              </a:rPr>
              <a:t>Vehicle
Simulator</a:t>
            </a:r>
          </a:p>
        </p:txBody>
      </p:sp>
      <p:sp>
        <p:nvSpPr>
          <p:cNvPr id="7" name="TextBox 6"/>
          <p:cNvSpPr txBox="1"/>
          <p:nvPr/>
        </p:nvSpPr>
        <p:spPr>
          <a:xfrm>
            <a:off x="457200" y="3840480"/>
            <a:ext cx="1645920" cy="731520"/>
          </a:xfrm>
          <a:prstGeom prst="rect">
            <a:avLst/>
          </a:prstGeom>
          <a:noFill/>
        </p:spPr>
        <p:txBody>
          <a:bodyPr wrap="square">
            <a:spAutoFit/>
          </a:bodyPr>
          <a:lstStyle/>
          <a:p>
            <a:pPr algn="ctr"/>
            <a:r>
              <a:rPr sz="1100" b="0">
                <a:solidFill>
                  <a:srgbClr val="6C757D"/>
                </a:solidFill>
              </a:rPr>
              <a:t>Synthetic drive
cycles + faults</a:t>
            </a:r>
          </a:p>
        </p:txBody>
      </p:sp>
      <p:sp>
        <p:nvSpPr>
          <p:cNvPr id="8" name="Right Arrow 7"/>
          <p:cNvSpPr/>
          <p:nvPr/>
        </p:nvSpPr>
        <p:spPr>
          <a:xfrm>
            <a:off x="2148840" y="2651760"/>
            <a:ext cx="274320" cy="320040"/>
          </a:xfrm>
          <a:prstGeom prst="rightArrow">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377440" y="2011680"/>
            <a:ext cx="1645920" cy="1645920"/>
          </a:xfrm>
          <a:prstGeom prst="roundRect">
            <a:avLst/>
          </a:prstGeom>
          <a:solidFill>
            <a:srgbClr val="E8F5E9"/>
          </a:solidFill>
          <a:ln w="254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B3A5C"/>
                </a:solidFill>
              </a:rPr>
              <a:t>Telemetry
Samples</a:t>
            </a:r>
          </a:p>
        </p:txBody>
      </p:sp>
      <p:sp>
        <p:nvSpPr>
          <p:cNvPr id="10" name="TextBox 9"/>
          <p:cNvSpPr txBox="1"/>
          <p:nvPr/>
        </p:nvSpPr>
        <p:spPr>
          <a:xfrm>
            <a:off x="2377440" y="3840480"/>
            <a:ext cx="1645920" cy="731520"/>
          </a:xfrm>
          <a:prstGeom prst="rect">
            <a:avLst/>
          </a:prstGeom>
          <a:noFill/>
        </p:spPr>
        <p:txBody>
          <a:bodyPr wrap="square">
            <a:spAutoFit/>
          </a:bodyPr>
          <a:lstStyle/>
          <a:p>
            <a:pPr algn="ctr"/>
            <a:r>
              <a:rPr sz="1100" b="0">
                <a:solidFill>
                  <a:srgbClr val="6C757D"/>
                </a:solidFill>
              </a:rPr>
              <a:t>actual vs.
expected (twin)</a:t>
            </a:r>
          </a:p>
        </p:txBody>
      </p:sp>
      <p:sp>
        <p:nvSpPr>
          <p:cNvPr id="11" name="Right Arrow 10"/>
          <p:cNvSpPr/>
          <p:nvPr/>
        </p:nvSpPr>
        <p:spPr>
          <a:xfrm>
            <a:off x="4069080" y="2651760"/>
            <a:ext cx="274320" cy="320040"/>
          </a:xfrm>
          <a:prstGeom prst="rightArrow">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97680" y="2011680"/>
            <a:ext cx="1645920" cy="1645920"/>
          </a:xfrm>
          <a:prstGeom prst="roundRect">
            <a:avLst/>
          </a:prstGeom>
          <a:solidFill>
            <a:srgbClr val="FFF3E0"/>
          </a:solidFill>
          <a:ln w="254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B3A5C"/>
                </a:solidFill>
              </a:rPr>
              <a:t>Feature
Extraction</a:t>
            </a:r>
          </a:p>
        </p:txBody>
      </p:sp>
      <p:sp>
        <p:nvSpPr>
          <p:cNvPr id="13" name="TextBox 12"/>
          <p:cNvSpPr txBox="1"/>
          <p:nvPr/>
        </p:nvSpPr>
        <p:spPr>
          <a:xfrm>
            <a:off x="4297680" y="3840480"/>
            <a:ext cx="1645920" cy="731520"/>
          </a:xfrm>
          <a:prstGeom prst="rect">
            <a:avLst/>
          </a:prstGeom>
          <a:noFill/>
        </p:spPr>
        <p:txBody>
          <a:bodyPr wrap="square">
            <a:spAutoFit/>
          </a:bodyPr>
          <a:lstStyle/>
          <a:p>
            <a:pPr algn="ctr"/>
            <a:r>
              <a:rPr sz="1100" b="0">
                <a:solidFill>
                  <a:srgbClr val="6C757D"/>
                </a:solidFill>
              </a:rPr>
              <a:t>residual_mean
residual_slope</a:t>
            </a:r>
          </a:p>
        </p:txBody>
      </p:sp>
      <p:sp>
        <p:nvSpPr>
          <p:cNvPr id="14" name="Right Arrow 13"/>
          <p:cNvSpPr/>
          <p:nvPr/>
        </p:nvSpPr>
        <p:spPr>
          <a:xfrm>
            <a:off x="5989320" y="2651760"/>
            <a:ext cx="274320" cy="320040"/>
          </a:xfrm>
          <a:prstGeom prst="rightArrow">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2011680"/>
            <a:ext cx="1645920" cy="1645920"/>
          </a:xfrm>
          <a:prstGeom prst="roundRect">
            <a:avLst/>
          </a:prstGeom>
          <a:solidFill>
            <a:srgbClr val="F3E5F5"/>
          </a:solidFill>
          <a:ln w="25400">
            <a:solidFill>
              <a:srgbClr val="A23B7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B3A5C"/>
                </a:solidFill>
              </a:rPr>
              <a:t>Drift
Detector</a:t>
            </a:r>
          </a:p>
        </p:txBody>
      </p:sp>
      <p:sp>
        <p:nvSpPr>
          <p:cNvPr id="16" name="TextBox 15"/>
          <p:cNvSpPr txBox="1"/>
          <p:nvPr/>
        </p:nvSpPr>
        <p:spPr>
          <a:xfrm>
            <a:off x="6217920" y="3840480"/>
            <a:ext cx="1645920" cy="731520"/>
          </a:xfrm>
          <a:prstGeom prst="rect">
            <a:avLst/>
          </a:prstGeom>
          <a:noFill/>
        </p:spPr>
        <p:txBody>
          <a:bodyPr wrap="square">
            <a:spAutoFit/>
          </a:bodyPr>
          <a:lstStyle/>
          <a:p>
            <a:pPr algn="ctr"/>
            <a:r>
              <a:rPr sz="1100" b="0">
                <a:solidFill>
                  <a:srgbClr val="6C757D"/>
                </a:solidFill>
              </a:rPr>
              <a:t>EWMA score
(0–1+)</a:t>
            </a:r>
          </a:p>
        </p:txBody>
      </p:sp>
      <p:sp>
        <p:nvSpPr>
          <p:cNvPr id="17" name="Right Arrow 16"/>
          <p:cNvSpPr/>
          <p:nvPr/>
        </p:nvSpPr>
        <p:spPr>
          <a:xfrm>
            <a:off x="7909560" y="2651760"/>
            <a:ext cx="274320" cy="320040"/>
          </a:xfrm>
          <a:prstGeom prst="rightArrow">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8160" y="2011680"/>
            <a:ext cx="1645920" cy="1645920"/>
          </a:xfrm>
          <a:prstGeom prst="roundRect">
            <a:avLst/>
          </a:prstGeom>
          <a:solidFill>
            <a:srgbClr val="FFEBEE"/>
          </a:solidFill>
          <a:ln w="25400">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B3A5C"/>
                </a:solidFill>
              </a:rPr>
              <a:t>Failure
Model</a:t>
            </a:r>
          </a:p>
        </p:txBody>
      </p:sp>
      <p:sp>
        <p:nvSpPr>
          <p:cNvPr id="19" name="TextBox 18"/>
          <p:cNvSpPr txBox="1"/>
          <p:nvPr/>
        </p:nvSpPr>
        <p:spPr>
          <a:xfrm>
            <a:off x="8138160" y="3840480"/>
            <a:ext cx="1645920" cy="731520"/>
          </a:xfrm>
          <a:prstGeom prst="rect">
            <a:avLst/>
          </a:prstGeom>
          <a:noFill/>
        </p:spPr>
        <p:txBody>
          <a:bodyPr wrap="square">
            <a:spAutoFit/>
          </a:bodyPr>
          <a:lstStyle/>
          <a:p>
            <a:pPr algn="ctr"/>
            <a:r>
              <a:rPr sz="1100" b="0">
                <a:solidFill>
                  <a:srgbClr val="6C757D"/>
                </a:solidFill>
              </a:rPr>
              <a:t>P(failure)
+ TTF hours</a:t>
            </a:r>
          </a:p>
        </p:txBody>
      </p:sp>
      <p:sp>
        <p:nvSpPr>
          <p:cNvPr id="20" name="Right Arrow 19"/>
          <p:cNvSpPr/>
          <p:nvPr/>
        </p:nvSpPr>
        <p:spPr>
          <a:xfrm>
            <a:off x="9829800" y="2651760"/>
            <a:ext cx="274320" cy="320040"/>
          </a:xfrm>
          <a:prstGeom prst="rightArrow">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58400" y="2011680"/>
            <a:ext cx="1645920" cy="1645920"/>
          </a:xfrm>
          <a:prstGeom prst="roundRect">
            <a:avLst/>
          </a:prstGeom>
          <a:solidFill>
            <a:srgbClr val="FFF8E1"/>
          </a:solidFill>
          <a:ln w="25400">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B3A5C"/>
                </a:solidFill>
              </a:rPr>
              <a:t>Alert
Center</a:t>
            </a:r>
          </a:p>
        </p:txBody>
      </p:sp>
      <p:sp>
        <p:nvSpPr>
          <p:cNvPr id="22" name="TextBox 21"/>
          <p:cNvSpPr txBox="1"/>
          <p:nvPr/>
        </p:nvSpPr>
        <p:spPr>
          <a:xfrm>
            <a:off x="10058400" y="3840480"/>
            <a:ext cx="1645920" cy="731520"/>
          </a:xfrm>
          <a:prstGeom prst="rect">
            <a:avLst/>
          </a:prstGeom>
          <a:noFill/>
        </p:spPr>
        <p:txBody>
          <a:bodyPr wrap="square">
            <a:spAutoFit/>
          </a:bodyPr>
          <a:lstStyle/>
          <a:p>
            <a:pPr algn="ctr"/>
            <a:r>
              <a:rPr sz="1100" b="0">
                <a:solidFill>
                  <a:srgbClr val="6C757D"/>
                </a:solidFill>
              </a:rPr>
              <a:t>Dedup &amp;
notify OEM</a:t>
            </a:r>
          </a:p>
        </p:txBody>
      </p:sp>
      <p:sp>
        <p:nvSpPr>
          <p:cNvPr id="23" name="Rounded Rectangle 22"/>
          <p:cNvSpPr/>
          <p:nvPr/>
        </p:nvSpPr>
        <p:spPr>
          <a:xfrm>
            <a:off x="914400" y="5029200"/>
            <a:ext cx="10058400" cy="11887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B3A5C"/>
                </a:solidFill>
                <a:latin typeface="Courier New"/>
              </a:rPr>
              <a:t>Core Signal:  residual = actual_measurement − twin_prediction</a:t>
            </a:r>
          </a:p>
          <a:p>
            <a:r>
              <a:rPr sz="1300">
                <a:solidFill>
                  <a:srgbClr val="6C757D"/>
                </a:solidFill>
              </a:rPr>
              <a:t>A healthy vehicle maintains near-zero residuals. Degrading components cause residuals to grow over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Digital Twin (HPC)</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Expected vs. Actual Telemetry</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5029200" cy="3657600"/>
          </a:xfrm>
          <a:prstGeom prst="rect">
            <a:avLst/>
          </a:prstGeom>
          <a:noFill/>
        </p:spPr>
        <p:txBody>
          <a:bodyPr wrap="square">
            <a:spAutoFit/>
          </a:bodyPr>
          <a:lstStyle/>
          <a:p>
            <a:pPr>
              <a:spcAft>
                <a:spcPts val="800"/>
              </a:spcAft>
            </a:pPr>
            <a:r>
              <a:rPr sz="1500">
                <a:solidFill>
                  <a:srgbClr val="2C3E50"/>
                </a:solidFill>
              </a:rPr>
              <a:t>▸ HPC physics simulation of battery thermal system</a:t>
            </a:r>
          </a:p>
          <a:p>
            <a:pPr>
              <a:spcAft>
                <a:spcPts val="800"/>
              </a:spcAft>
            </a:pPr>
            <a:r>
              <a:rPr sz="1500">
                <a:solidFill>
                  <a:srgbClr val="2C3E50"/>
                </a:solidFill>
              </a:rPr>
              <a:t>▸ Computes expected temps given current conditions</a:t>
            </a:r>
          </a:p>
          <a:p>
            <a:pPr>
              <a:spcAft>
                <a:spcPts val="800"/>
              </a:spcAft>
            </a:pPr>
            <a:r>
              <a:rPr sz="1500">
                <a:solidFill>
                  <a:srgbClr val="2C3E50"/>
                </a:solidFill>
              </a:rPr>
              <a:t>▸ Inputs: ambient temp, current draw, vehicle speed</a:t>
            </a:r>
          </a:p>
          <a:p>
            <a:pPr>
              <a:spcAft>
                <a:spcPts val="800"/>
              </a:spcAft>
            </a:pPr>
            <a:r>
              <a:rPr sz="1500">
                <a:solidFill>
                  <a:srgbClr val="2C3E50"/>
                </a:solidFill>
              </a:rPr>
              <a:t>▸ Residual = actual − twin prediction</a:t>
            </a:r>
          </a:p>
          <a:p>
            <a:pPr>
              <a:spcAft>
                <a:spcPts val="800"/>
              </a:spcAft>
            </a:pPr>
            <a:r>
              <a:rPr sz="1500">
                <a:solidFill>
                  <a:srgbClr val="2C3E50"/>
                </a:solidFill>
              </a:rPr>
              <a:t>▸ Near-zero residual = healthy vehicle</a:t>
            </a:r>
          </a:p>
          <a:p>
            <a:pPr>
              <a:spcAft>
                <a:spcPts val="800"/>
              </a:spcAft>
            </a:pPr>
            <a:r>
              <a:rPr sz="1500">
                <a:solidFill>
                  <a:srgbClr val="2C3E50"/>
                </a:solidFill>
              </a:rPr>
              <a:t>▸ Growing residual = degrading component</a:t>
            </a:r>
          </a:p>
        </p:txBody>
      </p:sp>
      <p:sp>
        <p:nvSpPr>
          <p:cNvPr id="7" name="Rounded Rectangle 6"/>
          <p:cNvSpPr/>
          <p:nvPr/>
        </p:nvSpPr>
        <p:spPr>
          <a:xfrm>
            <a:off x="6400800" y="1645920"/>
            <a:ext cx="5029200" cy="2011680"/>
          </a:xfrm>
          <a:prstGeom prst="roundRect">
            <a:avLst/>
          </a:prstGeom>
          <a:solidFill>
            <a:srgbClr val="E8F5E9"/>
          </a:solidFill>
          <a:ln w="1905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28A745"/>
                </a:solidFill>
              </a:rPr>
              <a:t>✅ Healthy Vehicle</a:t>
            </a:r>
          </a:p>
          <a:p>
            <a:r>
              <a:rPr sz="1300">
                <a:solidFill>
                  <a:srgbClr val="2C3E50"/>
                </a:solidFill>
              </a:rPr>
              <a:t>
Actual ≈ Expected
Residual → ~0°C
Drift Score → 0.05–0.15</a:t>
            </a:r>
          </a:p>
        </p:txBody>
      </p:sp>
      <p:sp>
        <p:nvSpPr>
          <p:cNvPr id="8" name="Rounded Rectangle 7"/>
          <p:cNvSpPr/>
          <p:nvPr/>
        </p:nvSpPr>
        <p:spPr>
          <a:xfrm>
            <a:off x="6400800" y="3931920"/>
            <a:ext cx="5029200" cy="2286000"/>
          </a:xfrm>
          <a:prstGeom prst="roundRect">
            <a:avLst/>
          </a:prstGeom>
          <a:solidFill>
            <a:srgbClr val="FFEBEE"/>
          </a:solidFill>
          <a:ln w="19050">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DC3545"/>
                </a:solidFill>
              </a:rPr>
              <a:t>⚠️ Degrading Vehicle</a:t>
            </a:r>
          </a:p>
          <a:p>
            <a:r>
              <a:rPr sz="1300">
                <a:solidFill>
                  <a:srgbClr val="2C3E50"/>
                </a:solidFill>
              </a:rPr>
              <a:t>
Actual &gt;&gt; Expected (pump failing)
Residual → +3°C to +8°C (rising)
Drift Score → 0.45–0.90 (alert!)
TTF → 2–24 hours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Failure Scenarios</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Built-in Simulation Modes</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645920"/>
            <a:ext cx="2651760" cy="4572000"/>
          </a:xfrm>
          <a:prstGeom prst="roundRect">
            <a:avLst/>
          </a:prstGeom>
          <a:solidFill>
            <a:srgbClr val="FFFFFF"/>
          </a:solidFill>
          <a:ln w="25400">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17320" y="1920240"/>
            <a:ext cx="822960" cy="822960"/>
          </a:xfrm>
          <a:prstGeom prst="ellipse">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a:t>
            </a:r>
          </a:p>
        </p:txBody>
      </p:sp>
      <p:sp>
        <p:nvSpPr>
          <p:cNvPr id="8" name="TextBox 7"/>
          <p:cNvSpPr txBox="1"/>
          <p:nvPr/>
        </p:nvSpPr>
        <p:spPr>
          <a:xfrm>
            <a:off x="640080" y="3017520"/>
            <a:ext cx="2468880" cy="822960"/>
          </a:xfrm>
          <a:prstGeom prst="rect">
            <a:avLst/>
          </a:prstGeom>
          <a:noFill/>
        </p:spPr>
        <p:txBody>
          <a:bodyPr wrap="square">
            <a:spAutoFit/>
          </a:bodyPr>
          <a:lstStyle/>
          <a:p>
            <a:pPr algn="ctr"/>
            <a:r>
              <a:rPr sz="1600" b="1">
                <a:solidFill>
                  <a:srgbClr val="1B3A5C"/>
                </a:solidFill>
              </a:rPr>
              <a:t>Coolant Pump
Degrading</a:t>
            </a:r>
          </a:p>
        </p:txBody>
      </p:sp>
      <p:sp>
        <p:nvSpPr>
          <p:cNvPr id="9" name="TextBox 8"/>
          <p:cNvSpPr txBox="1"/>
          <p:nvPr/>
        </p:nvSpPr>
        <p:spPr>
          <a:xfrm>
            <a:off x="640080" y="3931920"/>
            <a:ext cx="2468880" cy="2011680"/>
          </a:xfrm>
          <a:prstGeom prst="rect">
            <a:avLst/>
          </a:prstGeom>
          <a:noFill/>
        </p:spPr>
        <p:txBody>
          <a:bodyPr wrap="square">
            <a:spAutoFit/>
          </a:bodyPr>
          <a:lstStyle/>
          <a:p>
            <a:pPr algn="ctr"/>
            <a:r>
              <a:rPr sz="1300" b="0">
                <a:solidFill>
                  <a:srgbClr val="6C757D"/>
                </a:solidFill>
              </a:rPr>
              <a:t>Flow slowly drops
→ ΔT widens
→ Pack temp rises
above twin</a:t>
            </a:r>
          </a:p>
        </p:txBody>
      </p:sp>
      <p:sp>
        <p:nvSpPr>
          <p:cNvPr id="10" name="Rounded Rectangle 9"/>
          <p:cNvSpPr/>
          <p:nvPr/>
        </p:nvSpPr>
        <p:spPr>
          <a:xfrm>
            <a:off x="3474720" y="1645920"/>
            <a:ext cx="2651760" cy="4572000"/>
          </a:xfrm>
          <a:prstGeom prst="roundRect">
            <a:avLst/>
          </a:prstGeom>
          <a:solidFill>
            <a:srgbClr val="FFFFFF"/>
          </a:solidFill>
          <a:ln w="254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343400" y="1920240"/>
            <a:ext cx="822960" cy="822960"/>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a:t>
            </a:r>
          </a:p>
        </p:txBody>
      </p:sp>
      <p:sp>
        <p:nvSpPr>
          <p:cNvPr id="12" name="TextBox 11"/>
          <p:cNvSpPr txBox="1"/>
          <p:nvPr/>
        </p:nvSpPr>
        <p:spPr>
          <a:xfrm>
            <a:off x="3566160" y="3017520"/>
            <a:ext cx="2468880" cy="822960"/>
          </a:xfrm>
          <a:prstGeom prst="rect">
            <a:avLst/>
          </a:prstGeom>
          <a:noFill/>
        </p:spPr>
        <p:txBody>
          <a:bodyPr wrap="square">
            <a:spAutoFit/>
          </a:bodyPr>
          <a:lstStyle/>
          <a:p>
            <a:pPr algn="ctr"/>
            <a:r>
              <a:rPr sz="1600" b="1">
                <a:solidFill>
                  <a:srgbClr val="1B3A5C"/>
                </a:solidFill>
              </a:rPr>
              <a:t>Cell
Imbalance</a:t>
            </a:r>
          </a:p>
        </p:txBody>
      </p:sp>
      <p:sp>
        <p:nvSpPr>
          <p:cNvPr id="13" name="TextBox 12"/>
          <p:cNvSpPr txBox="1"/>
          <p:nvPr/>
        </p:nvSpPr>
        <p:spPr>
          <a:xfrm>
            <a:off x="3566160" y="3931920"/>
            <a:ext cx="2468880" cy="2011680"/>
          </a:xfrm>
          <a:prstGeom prst="rect">
            <a:avLst/>
          </a:prstGeom>
          <a:noFill/>
        </p:spPr>
        <p:txBody>
          <a:bodyPr wrap="square">
            <a:spAutoFit/>
          </a:bodyPr>
          <a:lstStyle/>
          <a:p>
            <a:pPr algn="ctr"/>
            <a:r>
              <a:rPr sz="1300" b="0">
                <a:solidFill>
                  <a:srgbClr val="6C757D"/>
                </a:solidFill>
              </a:rPr>
              <a:t>One cell heats
faster than rest
→ Max-cell residual
climbs</a:t>
            </a:r>
          </a:p>
        </p:txBody>
      </p:sp>
      <p:sp>
        <p:nvSpPr>
          <p:cNvPr id="14" name="Rounded Rectangle 13"/>
          <p:cNvSpPr/>
          <p:nvPr/>
        </p:nvSpPr>
        <p:spPr>
          <a:xfrm>
            <a:off x="6400800" y="1645920"/>
            <a:ext cx="2651760" cy="4572000"/>
          </a:xfrm>
          <a:prstGeom prst="roundRect">
            <a:avLst/>
          </a:prstGeom>
          <a:solidFill>
            <a:srgbClr val="FFFFFF"/>
          </a:solidFill>
          <a:ln w="25400">
            <a:solidFill>
              <a:srgbClr val="A23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269480" y="1920240"/>
            <a:ext cx="822960" cy="822960"/>
          </a:xfrm>
          <a:prstGeom prst="ellipse">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a:t>
            </a:r>
          </a:p>
        </p:txBody>
      </p:sp>
      <p:sp>
        <p:nvSpPr>
          <p:cNvPr id="16" name="TextBox 15"/>
          <p:cNvSpPr txBox="1"/>
          <p:nvPr/>
        </p:nvSpPr>
        <p:spPr>
          <a:xfrm>
            <a:off x="6492240" y="3017520"/>
            <a:ext cx="2468880" cy="822960"/>
          </a:xfrm>
          <a:prstGeom prst="rect">
            <a:avLst/>
          </a:prstGeom>
          <a:noFill/>
        </p:spPr>
        <p:txBody>
          <a:bodyPr wrap="square">
            <a:spAutoFit/>
          </a:bodyPr>
          <a:lstStyle/>
          <a:p>
            <a:pPr algn="ctr"/>
            <a:r>
              <a:rPr sz="1600" b="1">
                <a:solidFill>
                  <a:srgbClr val="1B3A5C"/>
                </a:solidFill>
              </a:rPr>
              <a:t>Sensor
Bias</a:t>
            </a:r>
          </a:p>
        </p:txBody>
      </p:sp>
      <p:sp>
        <p:nvSpPr>
          <p:cNvPr id="17" name="TextBox 16"/>
          <p:cNvSpPr txBox="1"/>
          <p:nvPr/>
        </p:nvSpPr>
        <p:spPr>
          <a:xfrm>
            <a:off x="6492240" y="3931920"/>
            <a:ext cx="2468880" cy="2011680"/>
          </a:xfrm>
          <a:prstGeom prst="rect">
            <a:avLst/>
          </a:prstGeom>
          <a:noFill/>
        </p:spPr>
        <p:txBody>
          <a:bodyPr wrap="square">
            <a:spAutoFit/>
          </a:bodyPr>
          <a:lstStyle/>
          <a:p>
            <a:pPr algn="ctr"/>
            <a:r>
              <a:rPr sz="1300" b="0">
                <a:solidFill>
                  <a:srgbClr val="6C757D"/>
                </a:solidFill>
              </a:rPr>
              <a:t>Reported temps
drift below truth
— hidden fault caught
via ΔT residual</a:t>
            </a:r>
          </a:p>
        </p:txBody>
      </p:sp>
      <p:sp>
        <p:nvSpPr>
          <p:cNvPr id="18" name="Rounded Rectangle 17"/>
          <p:cNvSpPr/>
          <p:nvPr/>
        </p:nvSpPr>
        <p:spPr>
          <a:xfrm>
            <a:off x="9326880" y="1645920"/>
            <a:ext cx="2651760" cy="4572000"/>
          </a:xfrm>
          <a:prstGeom prst="roundRect">
            <a:avLst/>
          </a:prstGeom>
          <a:solidFill>
            <a:srgbClr val="FFFFFF"/>
          </a:solidFill>
          <a:ln w="254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95560" y="1920240"/>
            <a:ext cx="822960" cy="82296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a:t>
            </a:r>
          </a:p>
        </p:txBody>
      </p:sp>
      <p:sp>
        <p:nvSpPr>
          <p:cNvPr id="20" name="TextBox 19"/>
          <p:cNvSpPr txBox="1"/>
          <p:nvPr/>
        </p:nvSpPr>
        <p:spPr>
          <a:xfrm>
            <a:off x="9418320" y="3017520"/>
            <a:ext cx="2468880" cy="822960"/>
          </a:xfrm>
          <a:prstGeom prst="rect">
            <a:avLst/>
          </a:prstGeom>
          <a:noFill/>
        </p:spPr>
        <p:txBody>
          <a:bodyPr wrap="square">
            <a:spAutoFit/>
          </a:bodyPr>
          <a:lstStyle/>
          <a:p>
            <a:pPr algn="ctr"/>
            <a:r>
              <a:rPr sz="1600" b="1">
                <a:solidFill>
                  <a:srgbClr val="1B3A5C"/>
                </a:solidFill>
              </a:rPr>
              <a:t>Nominal</a:t>
            </a:r>
          </a:p>
        </p:txBody>
      </p:sp>
      <p:sp>
        <p:nvSpPr>
          <p:cNvPr id="21" name="TextBox 20"/>
          <p:cNvSpPr txBox="1"/>
          <p:nvPr/>
        </p:nvSpPr>
        <p:spPr>
          <a:xfrm>
            <a:off x="9418320" y="3931920"/>
            <a:ext cx="2468880" cy="2011680"/>
          </a:xfrm>
          <a:prstGeom prst="rect">
            <a:avLst/>
          </a:prstGeom>
          <a:noFill/>
        </p:spPr>
        <p:txBody>
          <a:bodyPr wrap="square">
            <a:spAutoFit/>
          </a:bodyPr>
          <a:lstStyle/>
          <a:p>
            <a:pPr algn="ctr"/>
            <a:r>
              <a:rPr sz="1300" b="0">
                <a:solidFill>
                  <a:srgbClr val="6C757D"/>
                </a:solidFill>
              </a:rPr>
              <a:t>Healthy vehicle
Normal operation
Residuals stay
near zero</a:t>
            </a:r>
          </a:p>
        </p:txBody>
      </p:sp>
      <p:sp>
        <p:nvSpPr>
          <p:cNvPr id="22" name="Rounded Rectangle 21"/>
          <p:cNvSpPr/>
          <p:nvPr/>
        </p:nvSpPr>
        <p:spPr>
          <a:xfrm>
            <a:off x="914400" y="6400800"/>
            <a:ext cx="10058400" cy="3657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i="1">
                <a:solidFill>
                  <a:srgbClr val="6C757D"/>
                </a:solidFill>
              </a:rPr>
              <a:t>Each vehicle is randomly assigned a scenario via deterministic seed — results are reproducible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EWMA Drift Detection</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Statistical Anomaly Scoring</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5486400" cy="4114800"/>
          </a:xfrm>
          <a:prstGeom prst="rect">
            <a:avLst/>
          </a:prstGeom>
          <a:noFill/>
        </p:spPr>
        <p:txBody>
          <a:bodyPr wrap="square">
            <a:spAutoFit/>
          </a:bodyPr>
          <a:lstStyle/>
          <a:p>
            <a:r>
              <a:rPr sz="1400" b="1">
                <a:solidFill>
                  <a:srgbClr val="1B3A5C"/>
                </a:solidFill>
              </a:rPr>
              <a:t>EWMA Mean:</a:t>
            </a:r>
          </a:p>
          <a:p>
            <a:r>
              <a:rPr sz="1300">
                <a:solidFill>
                  <a:srgbClr val="2C3E50"/>
                </a:solidFill>
                <a:latin typeface="Courier New"/>
              </a:rPr>
              <a:t>  mean_t = (1−α) × mean_{t-1} + α × value_t</a:t>
            </a:r>
          </a:p>
          <a:p>
            <a:r>
              <a:rPr sz="1300">
                <a:solidFill>
                  <a:srgbClr val="6C757D"/>
                </a:solidFill>
              </a:rPr>
              <a:t/>
            </a:r>
          </a:p>
          <a:p>
            <a:r>
              <a:rPr sz="1400" b="1">
                <a:solidFill>
                  <a:srgbClr val="1B3A5C"/>
                </a:solidFill>
              </a:rPr>
              <a:t>EWMA Variance:</a:t>
            </a:r>
          </a:p>
          <a:p>
            <a:r>
              <a:rPr sz="1300">
                <a:solidFill>
                  <a:srgbClr val="2C3E50"/>
                </a:solidFill>
                <a:latin typeface="Courier New"/>
              </a:rPr>
              <a:t>  var_t = (1−α) × (var_{t-1} + α × (value−mean)²)</a:t>
            </a:r>
          </a:p>
          <a:p>
            <a:r>
              <a:rPr sz="1300">
                <a:solidFill>
                  <a:srgbClr val="6C757D"/>
                </a:solidFill>
              </a:rPr>
              <a:t/>
            </a:r>
          </a:p>
          <a:p>
            <a:r>
              <a:rPr sz="1400" b="1">
                <a:solidFill>
                  <a:srgbClr val="1B3A5C"/>
                </a:solidFill>
              </a:rPr>
              <a:t>Score Computation:</a:t>
            </a:r>
          </a:p>
          <a:p>
            <a:r>
              <a:rPr sz="1300">
                <a:solidFill>
                  <a:srgbClr val="2C3E50"/>
                </a:solidFill>
                <a:latin typeface="Courier New"/>
              </a:rPr>
              <a:t>  residual_mean → |mean| / 3.0</a:t>
            </a:r>
          </a:p>
          <a:p>
            <a:r>
              <a:rPr sz="1300">
                <a:solidFill>
                  <a:srgbClr val="2C3E50"/>
                </a:solidFill>
                <a:latin typeface="Courier New"/>
              </a:rPr>
              <a:t>  residual_slope → |mean| × 4.0</a:t>
            </a:r>
          </a:p>
          <a:p>
            <a:r>
              <a:rPr sz="1300">
                <a:solidFill>
                  <a:srgbClr val="2C3E50"/>
                </a:solidFill>
                <a:latin typeface="Courier New"/>
              </a:rPr>
              <a:t>  Final = average across channels</a:t>
            </a:r>
          </a:p>
          <a:p>
            <a:r>
              <a:rPr sz="1300">
                <a:solidFill>
                  <a:srgbClr val="6C757D"/>
                </a:solidFill>
              </a:rPr>
              <a:t/>
            </a:r>
          </a:p>
          <a:p>
            <a:r>
              <a:rPr sz="1300">
                <a:solidFill>
                  <a:srgbClr val="6C757D"/>
                </a:solidFill>
              </a:rPr>
              <a:t>Default α = 0.15 (configurable)</a:t>
            </a:r>
          </a:p>
        </p:txBody>
      </p:sp>
      <p:sp>
        <p:nvSpPr>
          <p:cNvPr id="7" name="Rounded Rectangle 6"/>
          <p:cNvSpPr/>
          <p:nvPr/>
        </p:nvSpPr>
        <p:spPr>
          <a:xfrm>
            <a:off x="6858000" y="1828800"/>
            <a:ext cx="4389120" cy="1371600"/>
          </a:xfrm>
          <a:prstGeom prst="roundRect">
            <a:avLst/>
          </a:prstGeom>
          <a:solidFill>
            <a:srgbClr val="FFF8E1"/>
          </a:solidFill>
          <a:ln w="25400">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C107"/>
                </a:solidFill>
              </a:rPr>
              <a:t>⚠️ WARN THRESHOLD</a:t>
            </a:r>
          </a:p>
          <a:p>
            <a:pPr algn="ctr"/>
            <a:r>
              <a:rPr sz="2000" b="1">
                <a:solidFill>
                  <a:srgbClr val="1B3A5C"/>
                </a:solidFill>
              </a:rPr>
              <a:t>Drift Score &gt; 0.45</a:t>
            </a:r>
          </a:p>
        </p:txBody>
      </p:sp>
      <p:sp>
        <p:nvSpPr>
          <p:cNvPr id="8" name="Rounded Rectangle 7"/>
          <p:cNvSpPr/>
          <p:nvPr/>
        </p:nvSpPr>
        <p:spPr>
          <a:xfrm>
            <a:off x="6858000" y="3474720"/>
            <a:ext cx="4389120" cy="1371600"/>
          </a:xfrm>
          <a:prstGeom prst="roundRect">
            <a:avLst/>
          </a:prstGeom>
          <a:solidFill>
            <a:srgbClr val="FFEBEE"/>
          </a:solidFill>
          <a:ln w="25400">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DC3545"/>
                </a:solidFill>
              </a:rPr>
              <a:t>🚨 CRITICAL THRESHOLD</a:t>
            </a:r>
          </a:p>
          <a:p>
            <a:pPr algn="ctr"/>
            <a:r>
              <a:rPr sz="2000" b="1">
                <a:solidFill>
                  <a:srgbClr val="1B3A5C"/>
                </a:solidFill>
              </a:rPr>
              <a:t>Drift Score &gt; 0.75</a:t>
            </a:r>
          </a:p>
        </p:txBody>
      </p:sp>
      <p:sp>
        <p:nvSpPr>
          <p:cNvPr id="9" name="Rounded Rectangle 8"/>
          <p:cNvSpPr/>
          <p:nvPr/>
        </p:nvSpPr>
        <p:spPr>
          <a:xfrm>
            <a:off x="6858000" y="5120640"/>
            <a:ext cx="4389120" cy="10972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a:solidFill>
                  <a:srgbClr val="2C3E50"/>
                </a:solidFill>
              </a:rPr>
              <a:t>Score Range: 0 (healthy) → 1+ (critical)</a:t>
            </a:r>
          </a:p>
          <a:p>
            <a:pPr algn="ctr"/>
            <a:r>
              <a:rPr sz="1200">
                <a:solidFill>
                  <a:srgbClr val="6C757D"/>
                </a:solidFill>
              </a:rPr>
              <a:t>3°C residual ≈ score of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Failure Prediction</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Transparent Logistic Model</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645920"/>
            <a:ext cx="548640" cy="54864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t>
            </a:r>
          </a:p>
        </p:txBody>
      </p:sp>
      <p:sp>
        <p:nvSpPr>
          <p:cNvPr id="7" name="TextBox 6"/>
          <p:cNvSpPr txBox="1"/>
          <p:nvPr/>
        </p:nvSpPr>
        <p:spPr>
          <a:xfrm>
            <a:off x="1554480" y="1645920"/>
            <a:ext cx="3200400" cy="365760"/>
          </a:xfrm>
          <a:prstGeom prst="rect">
            <a:avLst/>
          </a:prstGeom>
          <a:noFill/>
        </p:spPr>
        <p:txBody>
          <a:bodyPr wrap="square">
            <a:spAutoFit/>
          </a:bodyPr>
          <a:lstStyle/>
          <a:p>
            <a:pPr algn="l"/>
            <a:r>
              <a:rPr sz="1500" b="1">
                <a:solidFill>
                  <a:srgbClr val="1B3A5C"/>
                </a:solidFill>
              </a:rPr>
              <a:t>Failure Probability</a:t>
            </a:r>
          </a:p>
        </p:txBody>
      </p:sp>
      <p:sp>
        <p:nvSpPr>
          <p:cNvPr id="8" name="TextBox 7"/>
          <p:cNvSpPr txBox="1"/>
          <p:nvPr/>
        </p:nvSpPr>
        <p:spPr>
          <a:xfrm>
            <a:off x="1554480" y="2011680"/>
            <a:ext cx="5486400" cy="457200"/>
          </a:xfrm>
          <a:prstGeom prst="rect">
            <a:avLst/>
          </a:prstGeom>
          <a:noFill/>
        </p:spPr>
        <p:txBody>
          <a:bodyPr wrap="square">
            <a:spAutoFit/>
          </a:bodyPr>
          <a:lstStyle/>
          <a:p>
            <a:pPr algn="l"/>
            <a:r>
              <a:rPr sz="1200" b="0">
                <a:solidFill>
                  <a:srgbClr val="6C757D"/>
                </a:solidFill>
              </a:rPr>
              <a:t>sigmoid(z) where z = bias + Σ(weight_i × feature_i)</a:t>
            </a:r>
          </a:p>
        </p:txBody>
      </p:sp>
      <p:sp>
        <p:nvSpPr>
          <p:cNvPr id="9" name="Oval 8"/>
          <p:cNvSpPr/>
          <p:nvPr/>
        </p:nvSpPr>
        <p:spPr>
          <a:xfrm>
            <a:off x="731520" y="28346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t>
            </a:r>
          </a:p>
        </p:txBody>
      </p:sp>
      <p:sp>
        <p:nvSpPr>
          <p:cNvPr id="10" name="TextBox 9"/>
          <p:cNvSpPr txBox="1"/>
          <p:nvPr/>
        </p:nvSpPr>
        <p:spPr>
          <a:xfrm>
            <a:off x="1554480" y="2834640"/>
            <a:ext cx="3200400" cy="365760"/>
          </a:xfrm>
          <a:prstGeom prst="rect">
            <a:avLst/>
          </a:prstGeom>
          <a:noFill/>
        </p:spPr>
        <p:txBody>
          <a:bodyPr wrap="square">
            <a:spAutoFit/>
          </a:bodyPr>
          <a:lstStyle/>
          <a:p>
            <a:pPr algn="l"/>
            <a:r>
              <a:rPr sz="1500" b="1">
                <a:solidFill>
                  <a:srgbClr val="1B3A5C"/>
                </a:solidFill>
              </a:rPr>
              <a:t>95% Confidence Interval</a:t>
            </a:r>
          </a:p>
        </p:txBody>
      </p:sp>
      <p:sp>
        <p:nvSpPr>
          <p:cNvPr id="11" name="TextBox 10"/>
          <p:cNvSpPr txBox="1"/>
          <p:nvPr/>
        </p:nvSpPr>
        <p:spPr>
          <a:xfrm>
            <a:off x="1554480" y="3200400"/>
            <a:ext cx="5486400" cy="457200"/>
          </a:xfrm>
          <a:prstGeom prst="rect">
            <a:avLst/>
          </a:prstGeom>
          <a:noFill/>
        </p:spPr>
        <p:txBody>
          <a:bodyPr wrap="square">
            <a:spAutoFit/>
          </a:bodyPr>
          <a:lstStyle/>
          <a:p>
            <a:pPr algn="l"/>
            <a:r>
              <a:rPr sz="1200" b="0">
                <a:solidFill>
                  <a:srgbClr val="6C757D"/>
                </a:solidFill>
              </a:rPr>
              <a:t>Propagates epistemic σ through logit (z ± 1.96σ)</a:t>
            </a:r>
          </a:p>
        </p:txBody>
      </p:sp>
      <p:sp>
        <p:nvSpPr>
          <p:cNvPr id="12" name="Oval 11"/>
          <p:cNvSpPr/>
          <p:nvPr/>
        </p:nvSpPr>
        <p:spPr>
          <a:xfrm>
            <a:off x="731520" y="4023360"/>
            <a:ext cx="548640" cy="548640"/>
          </a:xfrm>
          <a:prstGeom prst="ellipse">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a:t>
            </a:r>
          </a:p>
        </p:txBody>
      </p:sp>
      <p:sp>
        <p:nvSpPr>
          <p:cNvPr id="13" name="TextBox 12"/>
          <p:cNvSpPr txBox="1"/>
          <p:nvPr/>
        </p:nvSpPr>
        <p:spPr>
          <a:xfrm>
            <a:off x="1554480" y="4023360"/>
            <a:ext cx="3200400" cy="365760"/>
          </a:xfrm>
          <a:prstGeom prst="rect">
            <a:avLst/>
          </a:prstGeom>
          <a:noFill/>
        </p:spPr>
        <p:txBody>
          <a:bodyPr wrap="square">
            <a:spAutoFit/>
          </a:bodyPr>
          <a:lstStyle/>
          <a:p>
            <a:pPr algn="l"/>
            <a:r>
              <a:rPr sz="1500" b="1">
                <a:solidFill>
                  <a:srgbClr val="1B3A5C"/>
                </a:solidFill>
              </a:rPr>
              <a:t>Time-to-Failure (TTF)</a:t>
            </a:r>
          </a:p>
        </p:txBody>
      </p:sp>
      <p:sp>
        <p:nvSpPr>
          <p:cNvPr id="14" name="TextBox 13"/>
          <p:cNvSpPr txBox="1"/>
          <p:nvPr/>
        </p:nvSpPr>
        <p:spPr>
          <a:xfrm>
            <a:off x="1554480" y="4389120"/>
            <a:ext cx="5486400" cy="457200"/>
          </a:xfrm>
          <a:prstGeom prst="rect">
            <a:avLst/>
          </a:prstGeom>
          <a:noFill/>
        </p:spPr>
        <p:txBody>
          <a:bodyPr wrap="square">
            <a:spAutoFit/>
          </a:bodyPr>
          <a:lstStyle/>
          <a:p>
            <a:pPr algn="l"/>
            <a:r>
              <a:rPr sz="1200" b="0">
                <a:solidFill>
                  <a:srgbClr val="6C757D"/>
                </a:solidFill>
              </a:rPr>
              <a:t>72 × (1−p)² hours, adjusted by slope signal</a:t>
            </a:r>
          </a:p>
        </p:txBody>
      </p:sp>
      <p:sp>
        <p:nvSpPr>
          <p:cNvPr id="15" name="TextBox 14"/>
          <p:cNvSpPr txBox="1"/>
          <p:nvPr/>
        </p:nvSpPr>
        <p:spPr>
          <a:xfrm>
            <a:off x="731520" y="5029200"/>
            <a:ext cx="4572000" cy="365760"/>
          </a:xfrm>
          <a:prstGeom prst="rect">
            <a:avLst/>
          </a:prstGeom>
          <a:noFill/>
        </p:spPr>
        <p:txBody>
          <a:bodyPr wrap="square">
            <a:spAutoFit/>
          </a:bodyPr>
          <a:lstStyle/>
          <a:p>
            <a:pPr algn="l"/>
            <a:r>
              <a:rPr sz="1500" b="1">
                <a:solidFill>
                  <a:srgbClr val="1B3A5C"/>
                </a:solidFill>
              </a:rPr>
              <a:t>Shipped Model Versions:</a:t>
            </a:r>
          </a:p>
        </p:txBody>
      </p:sp>
      <p:sp>
        <p:nvSpPr>
          <p:cNvPr id="16" name="Rounded Rectangle 15"/>
          <p:cNvSpPr/>
          <p:nvPr/>
        </p:nvSpPr>
        <p:spPr>
          <a:xfrm>
            <a:off x="731520" y="5394960"/>
            <a:ext cx="5029200" cy="1097280"/>
          </a:xfrm>
          <a:prstGeom prst="roundRect">
            <a:avLst/>
          </a:prstGeom>
          <a:solidFill>
            <a:srgbClr val="FFEBEE"/>
          </a:solidFill>
          <a:ln>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DC3545"/>
                </a:solidFill>
              </a:rPr>
              <a:t>baseline_v1 — Residual means + drift score only</a:t>
            </a:r>
          </a:p>
          <a:p>
            <a:r>
              <a:rPr sz="1100">
                <a:solidFill>
                  <a:srgbClr val="6C757D"/>
                </a:solidFill>
              </a:rPr>
              <a:t>Legacy thresholding approach; higher false negatives</a:t>
            </a:r>
          </a:p>
        </p:txBody>
      </p:sp>
      <p:sp>
        <p:nvSpPr>
          <p:cNvPr id="17" name="Rounded Rectangle 16"/>
          <p:cNvSpPr/>
          <p:nvPr/>
        </p:nvSpPr>
        <p:spPr>
          <a:xfrm>
            <a:off x="6217920" y="5394960"/>
            <a:ext cx="5029200" cy="1097280"/>
          </a:xfrm>
          <a:prstGeom prst="roundRect">
            <a:avLst/>
          </a:prstGeom>
          <a:solidFill>
            <a:srgbClr val="E8F5E9"/>
          </a:solidFill>
          <a:ln>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8A745"/>
                </a:solidFill>
              </a:rPr>
              <a:t>ewma_plus_v2 — Means + slopes + drift (DEFAULT)</a:t>
            </a:r>
          </a:p>
          <a:p>
            <a:r>
              <a:rPr sz="1100">
                <a:solidFill>
                  <a:srgbClr val="6C757D"/>
                </a:solidFill>
              </a:rPr>
              <a:t>Fires earlier; better lead time; lower false negatives</a:t>
            </a:r>
          </a:p>
        </p:txBody>
      </p:sp>
      <p:sp>
        <p:nvSpPr>
          <p:cNvPr id="18" name="Rounded Rectangle 17"/>
          <p:cNvSpPr/>
          <p:nvPr/>
        </p:nvSpPr>
        <p:spPr>
          <a:xfrm>
            <a:off x="7315200" y="1645920"/>
            <a:ext cx="4114800" cy="32004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3A5C"/>
                </a:solidFill>
              </a:rPr>
              <a:t>TTF Range:</a:t>
            </a:r>
          </a:p>
          <a:p>
            <a:r>
              <a:rPr sz="1200">
                <a:solidFill>
                  <a:srgbClr val="1B3A5C"/>
                </a:solidFill>
              </a:rPr>
              <a:t>
⏱️ p=0.1 → ~72 hours</a:t>
            </a:r>
          </a:p>
          <a:p>
            <a:r>
              <a:rPr sz="1200">
                <a:solidFill>
                  <a:srgbClr val="2C3E50"/>
                </a:solidFill>
              </a:rPr>
              <a:t>⏱️ p=0.5 → ~18 hours</a:t>
            </a:r>
          </a:p>
          <a:p>
            <a:r>
              <a:rPr sz="1200">
                <a:solidFill>
                  <a:srgbClr val="2C3E50"/>
                </a:solidFill>
              </a:rPr>
              <a:t>⏱️ p=0.9 → ~2 hours</a:t>
            </a:r>
          </a:p>
          <a:p>
            <a:r>
              <a:rPr sz="1200">
                <a:solidFill>
                  <a:srgbClr val="2C3E50"/>
                </a:solidFill>
              </a:rPr>
              <a:t>⏱️ Min floor: 30 minutes</a:t>
            </a:r>
          </a:p>
          <a:p>
            <a:r>
              <a:rPr sz="1200" b="1">
                <a:solidFill>
                  <a:srgbClr val="1B3A5C"/>
                </a:solidFill>
              </a:rPr>
              <a:t>
Slope adjustment:</a:t>
            </a:r>
          </a:p>
          <a:p>
            <a:r>
              <a:rPr sz="1200">
                <a:solidFill>
                  <a:srgbClr val="2C3E50"/>
                </a:solidFill>
              </a:rPr>
              <a:t>Higher slope → shorter TTF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A/B Testing Framework</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Hash-Deterministic Model Routing</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286000"/>
            <a:ext cx="2286000" cy="13716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B3A5C"/>
                </a:solidFill>
              </a:rPr>
              <a:t>Vehicle VIN
hash(VIN) % 100</a:t>
            </a:r>
          </a:p>
        </p:txBody>
      </p:sp>
      <p:sp>
        <p:nvSpPr>
          <p:cNvPr id="7" name="Right Arrow 6"/>
          <p:cNvSpPr/>
          <p:nvPr/>
        </p:nvSpPr>
        <p:spPr>
          <a:xfrm>
            <a:off x="3108960" y="2743200"/>
            <a:ext cx="731520" cy="365760"/>
          </a:xfrm>
          <a:prstGeom prst="rightArrow">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iamond 7"/>
          <p:cNvSpPr/>
          <p:nvPr/>
        </p:nvSpPr>
        <p:spPr>
          <a:xfrm>
            <a:off x="4023360" y="2103120"/>
            <a:ext cx="2011680" cy="1645920"/>
          </a:xfrm>
          <a:prstGeom prst="diamond">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3A5C"/>
                </a:solidFill>
              </a:rPr>
              <a:t>A/B
Router
(70/30)</a:t>
            </a:r>
          </a:p>
        </p:txBody>
      </p:sp>
      <p:sp>
        <p:nvSpPr>
          <p:cNvPr id="9" name="Right Arrow 8"/>
          <p:cNvSpPr/>
          <p:nvPr/>
        </p:nvSpPr>
        <p:spPr>
          <a:xfrm>
            <a:off x="6126480" y="2103120"/>
            <a:ext cx="731520" cy="320040"/>
          </a:xfrm>
          <a:prstGeom prst="rightArrow">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6126480" y="3383280"/>
            <a:ext cx="731520" cy="320040"/>
          </a:xfrm>
          <a:prstGeom prst="rightArrow">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0" y="1645920"/>
            <a:ext cx="4114800" cy="109728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DC3545"/>
                </a:solidFill>
              </a:rPr>
              <a:t>baseline_v1
Residual mean only (30%)</a:t>
            </a:r>
          </a:p>
        </p:txBody>
      </p:sp>
      <p:sp>
        <p:nvSpPr>
          <p:cNvPr id="12" name="Rounded Rectangle 11"/>
          <p:cNvSpPr/>
          <p:nvPr/>
        </p:nvSpPr>
        <p:spPr>
          <a:xfrm>
            <a:off x="7132320" y="3017520"/>
            <a:ext cx="4114800" cy="109728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8A745"/>
                </a:solidFill>
              </a:rPr>
              <a:t>ewma_plus_v2
Mean + slope features (70%)</a:t>
            </a:r>
          </a:p>
        </p:txBody>
      </p:sp>
      <p:sp>
        <p:nvSpPr>
          <p:cNvPr id="13" name="TextBox 12"/>
          <p:cNvSpPr txBox="1"/>
          <p:nvPr/>
        </p:nvSpPr>
        <p:spPr>
          <a:xfrm>
            <a:off x="731520" y="4389120"/>
            <a:ext cx="10058400" cy="2286000"/>
          </a:xfrm>
          <a:prstGeom prst="rect">
            <a:avLst/>
          </a:prstGeom>
          <a:noFill/>
        </p:spPr>
        <p:txBody>
          <a:bodyPr wrap="square">
            <a:spAutoFit/>
          </a:bodyPr>
          <a:lstStyle/>
          <a:p>
            <a:pPr>
              <a:spcAft>
                <a:spcPts val="800"/>
              </a:spcAft>
            </a:pPr>
            <a:r>
              <a:rPr sz="1400">
                <a:solidFill>
                  <a:srgbClr val="2C3E50"/>
                </a:solidFill>
              </a:rPr>
              <a:t>▸ Same VIN always routes to same model arm</a:t>
            </a:r>
          </a:p>
          <a:p>
            <a:pPr>
              <a:spcAft>
                <a:spcPts val="800"/>
              </a:spcAft>
            </a:pPr>
            <a:r>
              <a:rPr sz="1400">
                <a:solidFill>
                  <a:srgbClr val="2C3E50"/>
                </a:solidFill>
              </a:rPr>
              <a:t>▸ Eliminates cross-contamination between arms</a:t>
            </a:r>
          </a:p>
          <a:p>
            <a:pPr>
              <a:spcAft>
                <a:spcPts val="800"/>
              </a:spcAft>
            </a:pPr>
            <a:r>
              <a:rPr sz="1400">
                <a:solidFill>
                  <a:srgbClr val="2C3E50"/>
                </a:solidFill>
              </a:rPr>
              <a:t>▸ Configurable traffic split via PATCH /api/models/ab_split</a:t>
            </a:r>
          </a:p>
          <a:p>
            <a:pPr>
              <a:spcAft>
                <a:spcPts val="800"/>
              </a:spcAft>
            </a:pPr>
            <a:r>
              <a:rPr sz="1400">
                <a:solidFill>
                  <a:srgbClr val="2C3E50"/>
                </a:solidFill>
              </a:rPr>
              <a:t>▸ Per-arm precision/recall reported independently</a:t>
            </a:r>
          </a:p>
          <a:p>
            <a:pPr>
              <a:spcAft>
                <a:spcPts val="800"/>
              </a:spcAft>
            </a:pPr>
            <a:r>
              <a:rPr sz="1400">
                <a:solidFill>
                  <a:srgbClr val="2C3E50"/>
                </a:solidFill>
              </a:rPr>
              <a:t>▸ Enables honest comparison of model versions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Dashboard &amp; User Interface</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Two Interface Options</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554480"/>
            <a:ext cx="5486400" cy="5029200"/>
          </a:xfrm>
          <a:prstGeom prst="roundRect">
            <a:avLst/>
          </a:prstGeom>
          <a:solidFill>
            <a:srgbClr val="E3F2FD"/>
          </a:solidFill>
          <a:ln w="254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5029200" cy="457200"/>
          </a:xfrm>
          <a:prstGeom prst="rect">
            <a:avLst/>
          </a:prstGeom>
          <a:noFill/>
        </p:spPr>
        <p:txBody>
          <a:bodyPr wrap="square">
            <a:spAutoFit/>
          </a:bodyPr>
          <a:lstStyle/>
          <a:p>
            <a:pPr algn="l"/>
            <a:r>
              <a:rPr sz="1700" b="1">
                <a:solidFill>
                  <a:srgbClr val="2E86AB"/>
                </a:solidFill>
              </a:rPr>
              <a:t>📄 Standalone HTML (~88 KB)</a:t>
            </a:r>
          </a:p>
        </p:txBody>
      </p:sp>
      <p:sp>
        <p:nvSpPr>
          <p:cNvPr id="8" name="TextBox 7"/>
          <p:cNvSpPr txBox="1"/>
          <p:nvPr/>
        </p:nvSpPr>
        <p:spPr>
          <a:xfrm>
            <a:off x="731520" y="2286000"/>
            <a:ext cx="4846320" cy="4114800"/>
          </a:xfrm>
          <a:prstGeom prst="rect">
            <a:avLst/>
          </a:prstGeom>
          <a:noFill/>
        </p:spPr>
        <p:txBody>
          <a:bodyPr wrap="square">
            <a:spAutoFit/>
          </a:bodyPr>
          <a:lstStyle/>
          <a:p>
            <a:pPr>
              <a:spcAft>
                <a:spcPts val="800"/>
              </a:spcAft>
            </a:pPr>
            <a:r>
              <a:rPr sz="1200">
                <a:solidFill>
                  <a:srgbClr val="2C3E50"/>
                </a:solidFill>
              </a:rPr>
              <a:t>▸ Zero external dependencies</a:t>
            </a:r>
          </a:p>
          <a:p>
            <a:pPr>
              <a:spcAft>
                <a:spcPts val="800"/>
              </a:spcAft>
            </a:pPr>
            <a:r>
              <a:rPr sz="1200">
                <a:solidFill>
                  <a:srgbClr val="2C3E50"/>
                </a:solidFill>
              </a:rPr>
              <a:t>▸ Open in any browser — no server needed</a:t>
            </a:r>
          </a:p>
          <a:p>
            <a:pPr>
              <a:spcAft>
                <a:spcPts val="800"/>
              </a:spcAft>
            </a:pPr>
            <a:r>
              <a:rPr sz="1200">
                <a:solidFill>
                  <a:srgbClr val="2C3E50"/>
                </a:solidFill>
              </a:rPr>
              <a:t>▸ ▶/⏸/⏭ simulation (1×–30× speed)</a:t>
            </a:r>
          </a:p>
          <a:p>
            <a:pPr>
              <a:spcAft>
                <a:spcPts val="800"/>
              </a:spcAft>
            </a:pPr>
            <a:r>
              <a:rPr sz="1200">
                <a:solidFill>
                  <a:srgbClr val="2C3E50"/>
                </a:solidFill>
              </a:rPr>
              <a:t>▸ Light/dark theme toggle</a:t>
            </a:r>
          </a:p>
          <a:p>
            <a:pPr>
              <a:spcAft>
                <a:spcPts val="800"/>
              </a:spcAft>
            </a:pPr>
            <a:r>
              <a:rPr sz="1200">
                <a:solidFill>
                  <a:srgbClr val="2C3E50"/>
                </a:solidFill>
              </a:rPr>
              <a:t>▸ Fleet search + comparison overlay</a:t>
            </a:r>
          </a:p>
          <a:p>
            <a:pPr>
              <a:spcAft>
                <a:spcPts val="800"/>
              </a:spcAft>
            </a:pPr>
            <a:r>
              <a:rPr sz="1200">
                <a:solidFill>
                  <a:srgbClr val="2C3E50"/>
                </a:solidFill>
              </a:rPr>
              <a:t>▸ Fault injection controls</a:t>
            </a:r>
          </a:p>
          <a:p>
            <a:pPr>
              <a:spcAft>
                <a:spcPts val="800"/>
              </a:spcAft>
            </a:pPr>
            <a:r>
              <a:rPr sz="1200">
                <a:solidFill>
                  <a:srgbClr val="2C3E50"/>
                </a:solidFill>
              </a:rPr>
              <a:t>▸ Interactive ROI sliders</a:t>
            </a:r>
          </a:p>
          <a:p>
            <a:pPr>
              <a:spcAft>
                <a:spcPts val="800"/>
              </a:spcAft>
            </a:pPr>
            <a:r>
              <a:rPr sz="1200">
                <a:solidFill>
                  <a:srgbClr val="2C3E50"/>
                </a:solidFill>
              </a:rPr>
              <a:t>▸ KPI sparklines + toast alerts</a:t>
            </a:r>
          </a:p>
          <a:p>
            <a:pPr>
              <a:spcAft>
                <a:spcPts val="800"/>
              </a:spcAft>
            </a:pPr>
            <a:r>
              <a:rPr sz="1200">
                <a:solidFill>
                  <a:srgbClr val="2C3E50"/>
                </a:solidFill>
              </a:rPr>
              <a:t>▸ JSON/CSV export, print-to-PDF</a:t>
            </a:r>
          </a:p>
          <a:p>
            <a:pPr>
              <a:spcAft>
                <a:spcPts val="800"/>
              </a:spcAft>
            </a:pPr>
            <a:r>
              <a:rPr sz="1200">
                <a:solidFill>
                  <a:srgbClr val="2C3E50"/>
                </a:solidFill>
              </a:rPr>
              <a:t>▸ Shareable URLs + localStorage</a:t>
            </a:r>
          </a:p>
        </p:txBody>
      </p:sp>
      <p:sp>
        <p:nvSpPr>
          <p:cNvPr id="9" name="Rounded Rectangle 8"/>
          <p:cNvSpPr/>
          <p:nvPr/>
        </p:nvSpPr>
        <p:spPr>
          <a:xfrm>
            <a:off x="6217920" y="1554480"/>
            <a:ext cx="5486400" cy="5029200"/>
          </a:xfrm>
          <a:prstGeom prst="roundRect">
            <a:avLst/>
          </a:prstGeom>
          <a:solidFill>
            <a:srgbClr val="FEF3E0"/>
          </a:solidFill>
          <a:ln w="254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37360"/>
            <a:ext cx="5029200" cy="457200"/>
          </a:xfrm>
          <a:prstGeom prst="rect">
            <a:avLst/>
          </a:prstGeom>
          <a:noFill/>
        </p:spPr>
        <p:txBody>
          <a:bodyPr wrap="square">
            <a:spAutoFit/>
          </a:bodyPr>
          <a:lstStyle/>
          <a:p>
            <a:pPr algn="l"/>
            <a:r>
              <a:rPr sz="1700" b="1">
                <a:solidFill>
                  <a:srgbClr val="FF9800"/>
                </a:solidFill>
              </a:rPr>
              <a:t>🖥️ Flask Backend (Live HPC)</a:t>
            </a:r>
          </a:p>
        </p:txBody>
      </p:sp>
      <p:sp>
        <p:nvSpPr>
          <p:cNvPr id="11" name="TextBox 10"/>
          <p:cNvSpPr txBox="1"/>
          <p:nvPr/>
        </p:nvSpPr>
        <p:spPr>
          <a:xfrm>
            <a:off x="6492240" y="2286000"/>
            <a:ext cx="4846320" cy="4114800"/>
          </a:xfrm>
          <a:prstGeom prst="rect">
            <a:avLst/>
          </a:prstGeom>
          <a:noFill/>
        </p:spPr>
        <p:txBody>
          <a:bodyPr wrap="square">
            <a:spAutoFit/>
          </a:bodyPr>
          <a:lstStyle/>
          <a:p>
            <a:pPr>
              <a:spcAft>
                <a:spcPts val="800"/>
              </a:spcAft>
            </a:pPr>
            <a:r>
              <a:rPr sz="1200">
                <a:solidFill>
                  <a:srgbClr val="2C3E50"/>
                </a:solidFill>
              </a:rPr>
              <a:t>▸ Executive — C-level KPIs &amp; savings</a:t>
            </a:r>
          </a:p>
          <a:p>
            <a:pPr>
              <a:spcAft>
                <a:spcPts val="800"/>
              </a:spcAft>
            </a:pPr>
            <a:r>
              <a:rPr sz="1200">
                <a:solidFill>
                  <a:srgbClr val="2C3E50"/>
                </a:solidFill>
              </a:rPr>
              <a:t>▸ Fleet — Live table, drill-down</a:t>
            </a:r>
          </a:p>
          <a:p>
            <a:pPr>
              <a:spcAft>
                <a:spcPts val="800"/>
              </a:spcAft>
            </a:pPr>
            <a:r>
              <a:rPr sz="1200">
                <a:solidFill>
                  <a:srgbClr val="2C3E50"/>
                </a:solidFill>
              </a:rPr>
              <a:t>▸ Vehicle — Twin vs. actual, alerts</a:t>
            </a:r>
          </a:p>
          <a:p>
            <a:pPr>
              <a:spcAft>
                <a:spcPts val="800"/>
              </a:spcAft>
            </a:pPr>
            <a:r>
              <a:rPr sz="1200">
                <a:solidFill>
                  <a:srgbClr val="2C3E50"/>
                </a:solidFill>
              </a:rPr>
              <a:t>▸ Case Study — Scenario simulator</a:t>
            </a:r>
          </a:p>
          <a:p>
            <a:pPr>
              <a:spcAft>
                <a:spcPts val="800"/>
              </a:spcAft>
            </a:pPr>
            <a:r>
              <a:rPr sz="1200">
                <a:solidFill>
                  <a:srgbClr val="2C3E50"/>
                </a:solidFill>
              </a:rPr>
              <a:t>▸ Models &amp; A/B — Version registry</a:t>
            </a:r>
          </a:p>
          <a:p>
            <a:pPr>
              <a:spcAft>
                <a:spcPts val="800"/>
              </a:spcAft>
            </a:pPr>
            <a:r>
              <a:rPr sz="1200">
                <a:solidFill>
                  <a:srgbClr val="2C3E50"/>
                </a:solidFill>
              </a:rPr>
              <a:t>▸ Feedback — Customer intake + retrain</a:t>
            </a:r>
          </a:p>
          <a:p>
            <a:pPr>
              <a:spcAft>
                <a:spcPts val="800"/>
              </a:spcAft>
            </a:pPr>
            <a:r>
              <a:rPr sz="1200">
                <a:solidFill>
                  <a:srgbClr val="2C3E50"/>
                </a:solidFill>
              </a:rPr>
              <a:t>▸ Config — Live threshold editing</a:t>
            </a:r>
          </a:p>
          <a:p>
            <a:pPr>
              <a:spcAft>
                <a:spcPts val="800"/>
              </a:spcAft>
            </a:pPr>
            <a:r>
              <a:rPr sz="1200">
                <a:solidFill>
                  <a:srgbClr val="2C3E50"/>
                </a:solidFill>
              </a:rPr>
              <a:t>▸ Reports — JSON/CSV export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REST API Reference</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Complete Endpoint Catalog</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40080" y="1371600"/>
          <a:ext cx="10789920" cy="5303520"/>
        </p:xfrm>
        <a:graphic>
          <a:graphicData uri="http://schemas.openxmlformats.org/drawingml/2006/table">
            <a:tbl>
              <a:tblPr firstRow="1" bandRow="1">
                <a:tableStyleId>{5C22544A-7EE6-4342-B048-85BDC9FD1C3A}</a:tableStyleId>
              </a:tblPr>
              <a:tblGrid>
                <a:gridCol w="1645920"/>
                <a:gridCol w="4114800"/>
                <a:gridCol w="5029200"/>
              </a:tblGrid>
              <a:tr h="311971">
                <a:tc>
                  <a:txBody>
                    <a:bodyPr/>
                    <a:lstStyle/>
                    <a:p>
                      <a:pPr>
                        <a:defRPr sz="1100" b="1">
                          <a:solidFill>
                            <a:srgbClr val="FFFFFF"/>
                          </a:solidFill>
                        </a:defRPr>
                      </a:pPr>
                      <a:r>
                        <a:t>Method</a:t>
                      </a:r>
                    </a:p>
                  </a:txBody>
                  <a:tcPr>
                    <a:solidFill>
                      <a:srgbClr val="1B3A5C"/>
                    </a:solidFill>
                  </a:tcPr>
                </a:tc>
                <a:tc>
                  <a:txBody>
                    <a:bodyPr/>
                    <a:lstStyle/>
                    <a:p>
                      <a:pPr>
                        <a:defRPr sz="1100" b="1">
                          <a:solidFill>
                            <a:srgbClr val="FFFFFF"/>
                          </a:solidFill>
                        </a:defRPr>
                      </a:pPr>
                      <a:r>
                        <a:t>Endpoint</a:t>
                      </a:r>
                    </a:p>
                  </a:txBody>
                  <a:tcPr>
                    <a:solidFill>
                      <a:srgbClr val="1B3A5C"/>
                    </a:solidFill>
                  </a:tcPr>
                </a:tc>
                <a:tc>
                  <a:txBody>
                    <a:bodyPr/>
                    <a:lstStyle/>
                    <a:p>
                      <a:pPr>
                        <a:defRPr sz="1100" b="1">
                          <a:solidFill>
                            <a:srgbClr val="FFFFFF"/>
                          </a:solidFill>
                        </a:defRPr>
                      </a:pPr>
                      <a:r>
                        <a:t>Purpose</a:t>
                      </a:r>
                    </a:p>
                  </a:txBody>
                  <a:tcPr>
                    <a:solidFill>
                      <a:srgbClr val="1B3A5C"/>
                    </a:solidFill>
                  </a:tcPr>
                </a:tc>
              </a:tr>
              <a:tr h="311971">
                <a:tc>
                  <a:txBody>
                    <a:bodyPr/>
                    <a:lstStyle/>
                    <a:p>
                      <a:pPr>
                        <a:defRPr sz="1100">
                          <a:solidFill>
                            <a:srgbClr val="2C3E50"/>
                          </a:solidFill>
                        </a:defRPr>
                      </a:pPr>
                      <a:r>
                        <a:t>GET</a:t>
                      </a:r>
                    </a:p>
                  </a:txBody>
                  <a:tcPr/>
                </a:tc>
                <a:tc>
                  <a:txBody>
                    <a:bodyPr/>
                    <a:lstStyle/>
                    <a:p>
                      <a:pPr>
                        <a:defRPr sz="1000">
                          <a:solidFill>
                            <a:srgbClr val="2C3E50"/>
                          </a:solidFill>
                          <a:latin typeface="Courier New"/>
                        </a:defRPr>
                      </a:pPr>
                      <a:r>
                        <a:t>/api/health</a:t>
                      </a:r>
                    </a:p>
                  </a:txBody>
                  <a:tcPr/>
                </a:tc>
                <a:tc>
                  <a:txBody>
                    <a:bodyPr/>
                    <a:lstStyle/>
                    <a:p>
                      <a:pPr>
                        <a:defRPr sz="1100">
                          <a:solidFill>
                            <a:srgbClr val="2C3E50"/>
                          </a:solidFill>
                        </a:defRPr>
                      </a:pPr>
                      <a:r>
                        <a:t>Liveness check</a:t>
                      </a:r>
                    </a:p>
                  </a:txBody>
                  <a:tcPr/>
                </a:tc>
              </a:tr>
              <a:tr h="311971">
                <a:tc>
                  <a:txBody>
                    <a:bodyPr/>
                    <a:lstStyle/>
                    <a:p>
                      <a:pPr>
                        <a:defRPr sz="1100">
                          <a:solidFill>
                            <a:srgbClr val="2C3E50"/>
                          </a:solidFill>
                        </a:defRPr>
                      </a:pPr>
                      <a:r>
                        <a:t>GET</a:t>
                      </a:r>
                    </a:p>
                  </a:txBody>
                  <a:tcPr>
                    <a:solidFill>
                      <a:srgbClr val="F0F4F8"/>
                    </a:solidFill>
                  </a:tcPr>
                </a:tc>
                <a:tc>
                  <a:txBody>
                    <a:bodyPr/>
                    <a:lstStyle/>
                    <a:p>
                      <a:pPr>
                        <a:defRPr sz="1000">
                          <a:solidFill>
                            <a:srgbClr val="2C3E50"/>
                          </a:solidFill>
                          <a:latin typeface="Courier New"/>
                        </a:defRPr>
                      </a:pPr>
                      <a:r>
                        <a:t>/api/subsystems</a:t>
                      </a:r>
                    </a:p>
                  </a:txBody>
                  <a:tcPr>
                    <a:solidFill>
                      <a:srgbClr val="F0F4F8"/>
                    </a:solidFill>
                  </a:tcPr>
                </a:tc>
                <a:tc>
                  <a:txBody>
                    <a:bodyPr/>
                    <a:lstStyle/>
                    <a:p>
                      <a:pPr>
                        <a:defRPr sz="1100">
                          <a:solidFill>
                            <a:srgbClr val="2C3E50"/>
                          </a:solidFill>
                        </a:defRPr>
                      </a:pPr>
                      <a:r>
                        <a:t>List registered subsystems</a:t>
                      </a:r>
                    </a:p>
                  </a:txBody>
                  <a:tcPr>
                    <a:solidFill>
                      <a:srgbClr val="F0F4F8"/>
                    </a:solidFill>
                  </a:tcPr>
                </a:tc>
              </a:tr>
              <a:tr h="311971">
                <a:tc>
                  <a:txBody>
                    <a:bodyPr/>
                    <a:lstStyle/>
                    <a:p>
                      <a:pPr>
                        <a:defRPr sz="1100">
                          <a:solidFill>
                            <a:srgbClr val="2C3E50"/>
                          </a:solidFill>
                        </a:defRPr>
                      </a:pPr>
                      <a:r>
                        <a:t>GET/PATCH</a:t>
                      </a:r>
                    </a:p>
                  </a:txBody>
                  <a:tcPr/>
                </a:tc>
                <a:tc>
                  <a:txBody>
                    <a:bodyPr/>
                    <a:lstStyle/>
                    <a:p>
                      <a:pPr>
                        <a:defRPr sz="1000">
                          <a:solidFill>
                            <a:srgbClr val="2C3E50"/>
                          </a:solidFill>
                          <a:latin typeface="Courier New"/>
                        </a:defRPr>
                      </a:pPr>
                      <a:r>
                        <a:t>/api/config</a:t>
                      </a:r>
                    </a:p>
                  </a:txBody>
                  <a:tcPr/>
                </a:tc>
                <a:tc>
                  <a:txBody>
                    <a:bodyPr/>
                    <a:lstStyle/>
                    <a:p>
                      <a:pPr>
                        <a:defRPr sz="1100">
                          <a:solidFill>
                            <a:srgbClr val="2C3E50"/>
                          </a:solidFill>
                        </a:defRPr>
                      </a:pPr>
                      <a:r>
                        <a:t>Read / patch platform config</a:t>
                      </a:r>
                    </a:p>
                  </a:txBody>
                  <a:tcPr/>
                </a:tc>
              </a:tr>
              <a:tr h="311971">
                <a:tc>
                  <a:txBody>
                    <a:bodyPr/>
                    <a:lstStyle/>
                    <a:p>
                      <a:pPr>
                        <a:defRPr sz="1100">
                          <a:solidFill>
                            <a:srgbClr val="2C3E50"/>
                          </a:solidFill>
                        </a:defRPr>
                      </a:pPr>
                      <a:r>
                        <a:t>GET</a:t>
                      </a:r>
                    </a:p>
                  </a:txBody>
                  <a:tcPr>
                    <a:solidFill>
                      <a:srgbClr val="F0F4F8"/>
                    </a:solidFill>
                  </a:tcPr>
                </a:tc>
                <a:tc>
                  <a:txBody>
                    <a:bodyPr/>
                    <a:lstStyle/>
                    <a:p>
                      <a:pPr>
                        <a:defRPr sz="1000">
                          <a:solidFill>
                            <a:srgbClr val="2C3E50"/>
                          </a:solidFill>
                          <a:latin typeface="Courier New"/>
                        </a:defRPr>
                      </a:pPr>
                      <a:r>
                        <a:t>/api/fleet</a:t>
                      </a:r>
                    </a:p>
                  </a:txBody>
                  <a:tcPr>
                    <a:solidFill>
                      <a:srgbClr val="F0F4F8"/>
                    </a:solidFill>
                  </a:tcPr>
                </a:tc>
                <a:tc>
                  <a:txBody>
                    <a:bodyPr/>
                    <a:lstStyle/>
                    <a:p>
                      <a:pPr>
                        <a:defRPr sz="1100">
                          <a:solidFill>
                            <a:srgbClr val="2C3E50"/>
                          </a:solidFill>
                        </a:defRPr>
                      </a:pPr>
                      <a:r>
                        <a:t>Fleet summary + per-vehicle status</a:t>
                      </a:r>
                    </a:p>
                  </a:txBody>
                  <a:tcPr>
                    <a:solidFill>
                      <a:srgbClr val="F0F4F8"/>
                    </a:solidFill>
                  </a:tcPr>
                </a:tc>
              </a:tr>
              <a:tr h="311971">
                <a:tc>
                  <a:txBody>
                    <a:bodyPr/>
                    <a:lstStyle/>
                    <a:p>
                      <a:pPr>
                        <a:defRPr sz="1100">
                          <a:solidFill>
                            <a:srgbClr val="2C3E50"/>
                          </a:solidFill>
                        </a:defRPr>
                      </a:pPr>
                      <a:r>
                        <a:t>GET</a:t>
                      </a:r>
                    </a:p>
                  </a:txBody>
                  <a:tcPr/>
                </a:tc>
                <a:tc>
                  <a:txBody>
                    <a:bodyPr/>
                    <a:lstStyle/>
                    <a:p>
                      <a:pPr>
                        <a:defRPr sz="1000">
                          <a:solidFill>
                            <a:srgbClr val="2C3E50"/>
                          </a:solidFill>
                          <a:latin typeface="Courier New"/>
                        </a:defRPr>
                      </a:pPr>
                      <a:r>
                        <a:t>/api/vehicles/&lt;vin&gt;</a:t>
                      </a:r>
                    </a:p>
                  </a:txBody>
                  <a:tcPr/>
                </a:tc>
                <a:tc>
                  <a:txBody>
                    <a:bodyPr/>
                    <a:lstStyle/>
                    <a:p>
                      <a:pPr>
                        <a:defRPr sz="1100">
                          <a:solidFill>
                            <a:srgbClr val="2C3E50"/>
                          </a:solidFill>
                        </a:defRPr>
                      </a:pPr>
                      <a:r>
                        <a:t>Telemetry timeline + prediction</a:t>
                      </a:r>
                    </a:p>
                  </a:txBody>
                  <a:tcPr/>
                </a:tc>
              </a:tr>
              <a:tr h="311971">
                <a:tc>
                  <a:txBody>
                    <a:bodyPr/>
                    <a:lstStyle/>
                    <a:p>
                      <a:pPr>
                        <a:defRPr sz="1100">
                          <a:solidFill>
                            <a:srgbClr val="2C3E50"/>
                          </a:solidFill>
                        </a:defRPr>
                      </a:pPr>
                      <a:r>
                        <a:t>POST</a:t>
                      </a:r>
                    </a:p>
                  </a:txBody>
                  <a:tcPr>
                    <a:solidFill>
                      <a:srgbClr val="F0F4F8"/>
                    </a:solidFill>
                  </a:tcPr>
                </a:tc>
                <a:tc>
                  <a:txBody>
                    <a:bodyPr/>
                    <a:lstStyle/>
                    <a:p>
                      <a:pPr>
                        <a:defRPr sz="1000">
                          <a:solidFill>
                            <a:srgbClr val="2C3E50"/>
                          </a:solidFill>
                          <a:latin typeface="Courier New"/>
                        </a:defRPr>
                      </a:pPr>
                      <a:r>
                        <a:t>/api/fleet/reseed</a:t>
                      </a:r>
                    </a:p>
                  </a:txBody>
                  <a:tcPr>
                    <a:solidFill>
                      <a:srgbClr val="F0F4F8"/>
                    </a:solidFill>
                  </a:tcPr>
                </a:tc>
                <a:tc>
                  <a:txBody>
                    <a:bodyPr/>
                    <a:lstStyle/>
                    <a:p>
                      <a:pPr>
                        <a:defRPr sz="1100">
                          <a:solidFill>
                            <a:srgbClr val="2C3E50"/>
                          </a:solidFill>
                        </a:defRPr>
                      </a:pPr>
                      <a:r>
                        <a:t>Re-initialise fleet</a:t>
                      </a:r>
                    </a:p>
                  </a:txBody>
                  <a:tcPr>
                    <a:solidFill>
                      <a:srgbClr val="F0F4F8"/>
                    </a:solidFill>
                  </a:tcPr>
                </a:tc>
              </a:tr>
              <a:tr h="311971">
                <a:tc>
                  <a:txBody>
                    <a:bodyPr/>
                    <a:lstStyle/>
                    <a:p>
                      <a:pPr>
                        <a:defRPr sz="1100">
                          <a:solidFill>
                            <a:srgbClr val="2C3E50"/>
                          </a:solidFill>
                        </a:defRPr>
                      </a:pPr>
                      <a:r>
                        <a:t>GET</a:t>
                      </a:r>
                    </a:p>
                  </a:txBody>
                  <a:tcPr/>
                </a:tc>
                <a:tc>
                  <a:txBody>
                    <a:bodyPr/>
                    <a:lstStyle/>
                    <a:p>
                      <a:pPr>
                        <a:defRPr sz="1000">
                          <a:solidFill>
                            <a:srgbClr val="2C3E50"/>
                          </a:solidFill>
                          <a:latin typeface="Courier New"/>
                        </a:defRPr>
                      </a:pPr>
                      <a:r>
                        <a:t>/api/alerts</a:t>
                      </a:r>
                    </a:p>
                  </a:txBody>
                  <a:tcPr/>
                </a:tc>
                <a:tc>
                  <a:txBody>
                    <a:bodyPr/>
                    <a:lstStyle/>
                    <a:p>
                      <a:pPr>
                        <a:defRPr sz="1100">
                          <a:solidFill>
                            <a:srgbClr val="2C3E50"/>
                          </a:solidFill>
                        </a:defRPr>
                      </a:pPr>
                      <a:r>
                        <a:t>Alert feed</a:t>
                      </a:r>
                    </a:p>
                  </a:txBody>
                  <a:tcPr/>
                </a:tc>
              </a:tr>
              <a:tr h="311971">
                <a:tc>
                  <a:txBody>
                    <a:bodyPr/>
                    <a:lstStyle/>
                    <a:p>
                      <a:pPr>
                        <a:defRPr sz="1100">
                          <a:solidFill>
                            <a:srgbClr val="2C3E50"/>
                          </a:solidFill>
                        </a:defRPr>
                      </a:pPr>
                      <a:r>
                        <a:t>POST</a:t>
                      </a:r>
                    </a:p>
                  </a:txBody>
                  <a:tcPr>
                    <a:solidFill>
                      <a:srgbClr val="F0F4F8"/>
                    </a:solidFill>
                  </a:tcPr>
                </a:tc>
                <a:tc>
                  <a:txBody>
                    <a:bodyPr/>
                    <a:lstStyle/>
                    <a:p>
                      <a:pPr>
                        <a:defRPr sz="1000">
                          <a:solidFill>
                            <a:srgbClr val="2C3E50"/>
                          </a:solidFill>
                          <a:latin typeface="Courier New"/>
                        </a:defRPr>
                      </a:pPr>
                      <a:r>
                        <a:t>/api/alerts/&lt;id&gt;/ack</a:t>
                      </a:r>
                    </a:p>
                  </a:txBody>
                  <a:tcPr>
                    <a:solidFill>
                      <a:srgbClr val="F0F4F8"/>
                    </a:solidFill>
                  </a:tcPr>
                </a:tc>
                <a:tc>
                  <a:txBody>
                    <a:bodyPr/>
                    <a:lstStyle/>
                    <a:p>
                      <a:pPr>
                        <a:defRPr sz="1100">
                          <a:solidFill>
                            <a:srgbClr val="2C3E50"/>
                          </a:solidFill>
                        </a:defRPr>
                      </a:pPr>
                      <a:r>
                        <a:t>Acknowledge alert</a:t>
                      </a:r>
                    </a:p>
                  </a:txBody>
                  <a:tcPr>
                    <a:solidFill>
                      <a:srgbClr val="F0F4F8"/>
                    </a:solidFill>
                  </a:tcPr>
                </a:tc>
              </a:tr>
              <a:tr h="311971">
                <a:tc>
                  <a:txBody>
                    <a:bodyPr/>
                    <a:lstStyle/>
                    <a:p>
                      <a:pPr>
                        <a:defRPr sz="1100">
                          <a:solidFill>
                            <a:srgbClr val="2C3E50"/>
                          </a:solidFill>
                        </a:defRPr>
                      </a:pPr>
                      <a:r>
                        <a:t>GET</a:t>
                      </a:r>
                    </a:p>
                  </a:txBody>
                  <a:tcPr/>
                </a:tc>
                <a:tc>
                  <a:txBody>
                    <a:bodyPr/>
                    <a:lstStyle/>
                    <a:p>
                      <a:pPr>
                        <a:defRPr sz="1000">
                          <a:solidFill>
                            <a:srgbClr val="2C3E50"/>
                          </a:solidFill>
                          <a:latin typeface="Courier New"/>
                        </a:defRPr>
                      </a:pPr>
                      <a:r>
                        <a:t>/api/roi</a:t>
                      </a:r>
                    </a:p>
                  </a:txBody>
                  <a:tcPr/>
                </a:tc>
                <a:tc>
                  <a:txBody>
                    <a:bodyPr/>
                    <a:lstStyle/>
                    <a:p>
                      <a:pPr>
                        <a:defRPr sz="1100">
                          <a:solidFill>
                            <a:srgbClr val="2C3E50"/>
                          </a:solidFill>
                        </a:defRPr>
                      </a:pPr>
                      <a:r>
                        <a:t>ROI projection</a:t>
                      </a:r>
                    </a:p>
                  </a:txBody>
                  <a:tcPr/>
                </a:tc>
              </a:tr>
              <a:tr h="311971">
                <a:tc>
                  <a:txBody>
                    <a:bodyPr/>
                    <a:lstStyle/>
                    <a:p>
                      <a:pPr>
                        <a:defRPr sz="1100">
                          <a:solidFill>
                            <a:srgbClr val="2C3E50"/>
                          </a:solidFill>
                        </a:defRPr>
                      </a:pPr>
                      <a:r>
                        <a:t>GET</a:t>
                      </a:r>
                    </a:p>
                  </a:txBody>
                  <a:tcPr>
                    <a:solidFill>
                      <a:srgbClr val="F0F4F8"/>
                    </a:solidFill>
                  </a:tcPr>
                </a:tc>
                <a:tc>
                  <a:txBody>
                    <a:bodyPr/>
                    <a:lstStyle/>
                    <a:p>
                      <a:pPr>
                        <a:defRPr sz="1000">
                          <a:solidFill>
                            <a:srgbClr val="2C3E50"/>
                          </a:solidFill>
                          <a:latin typeface="Courier New"/>
                        </a:defRPr>
                      </a:pPr>
                      <a:r>
                        <a:t>/api/models</a:t>
                      </a:r>
                    </a:p>
                  </a:txBody>
                  <a:tcPr>
                    <a:solidFill>
                      <a:srgbClr val="F0F4F8"/>
                    </a:solidFill>
                  </a:tcPr>
                </a:tc>
                <a:tc>
                  <a:txBody>
                    <a:bodyPr/>
                    <a:lstStyle/>
                    <a:p>
                      <a:pPr>
                        <a:defRPr sz="1100">
                          <a:solidFill>
                            <a:srgbClr val="2C3E50"/>
                          </a:solidFill>
                        </a:defRPr>
                      </a:pPr>
                      <a:r>
                        <a:t>Model registry catalog</a:t>
                      </a:r>
                    </a:p>
                  </a:txBody>
                  <a:tcPr>
                    <a:solidFill>
                      <a:srgbClr val="F0F4F8"/>
                    </a:solidFill>
                  </a:tcPr>
                </a:tc>
              </a:tr>
              <a:tr h="311971">
                <a:tc>
                  <a:txBody>
                    <a:bodyPr/>
                    <a:lstStyle/>
                    <a:p>
                      <a:pPr>
                        <a:defRPr sz="1100">
                          <a:solidFill>
                            <a:srgbClr val="2C3E50"/>
                          </a:solidFill>
                        </a:defRPr>
                      </a:pPr>
                      <a:r>
                        <a:t>POST</a:t>
                      </a:r>
                    </a:p>
                  </a:txBody>
                  <a:tcPr/>
                </a:tc>
                <a:tc>
                  <a:txBody>
                    <a:bodyPr/>
                    <a:lstStyle/>
                    <a:p>
                      <a:pPr>
                        <a:defRPr sz="1000">
                          <a:solidFill>
                            <a:srgbClr val="2C3E50"/>
                          </a:solidFill>
                          <a:latin typeface="Courier New"/>
                        </a:defRPr>
                      </a:pPr>
                      <a:r>
                        <a:t>/api/models/activate</a:t>
                      </a:r>
                    </a:p>
                  </a:txBody>
                  <a:tcPr/>
                </a:tc>
                <a:tc>
                  <a:txBody>
                    <a:bodyPr/>
                    <a:lstStyle/>
                    <a:p>
                      <a:pPr>
                        <a:defRPr sz="1100">
                          <a:solidFill>
                            <a:srgbClr val="2C3E50"/>
                          </a:solidFill>
                        </a:defRPr>
                      </a:pPr>
                      <a:r>
                        <a:t>Activate model version</a:t>
                      </a:r>
                    </a:p>
                  </a:txBody>
                  <a:tcPr/>
                </a:tc>
              </a:tr>
              <a:tr h="311971">
                <a:tc>
                  <a:txBody>
                    <a:bodyPr/>
                    <a:lstStyle/>
                    <a:p>
                      <a:pPr>
                        <a:defRPr sz="1100">
                          <a:solidFill>
                            <a:srgbClr val="2C3E50"/>
                          </a:solidFill>
                        </a:defRPr>
                      </a:pPr>
                      <a:r>
                        <a:t>PATCH</a:t>
                      </a:r>
                    </a:p>
                  </a:txBody>
                  <a:tcPr>
                    <a:solidFill>
                      <a:srgbClr val="F0F4F8"/>
                    </a:solidFill>
                  </a:tcPr>
                </a:tc>
                <a:tc>
                  <a:txBody>
                    <a:bodyPr/>
                    <a:lstStyle/>
                    <a:p>
                      <a:pPr>
                        <a:defRPr sz="1000">
                          <a:solidFill>
                            <a:srgbClr val="2C3E50"/>
                          </a:solidFill>
                          <a:latin typeface="Courier New"/>
                        </a:defRPr>
                      </a:pPr>
                      <a:r>
                        <a:t>/api/models/ab_split</a:t>
                      </a:r>
                    </a:p>
                  </a:txBody>
                  <a:tcPr>
                    <a:solidFill>
                      <a:srgbClr val="F0F4F8"/>
                    </a:solidFill>
                  </a:tcPr>
                </a:tc>
                <a:tc>
                  <a:txBody>
                    <a:bodyPr/>
                    <a:lstStyle/>
                    <a:p>
                      <a:pPr>
                        <a:defRPr sz="1100">
                          <a:solidFill>
                            <a:srgbClr val="2C3E50"/>
                          </a:solidFill>
                        </a:defRPr>
                      </a:pPr>
                      <a:r>
                        <a:t>Update A/B split</a:t>
                      </a:r>
                    </a:p>
                  </a:txBody>
                  <a:tcPr>
                    <a:solidFill>
                      <a:srgbClr val="F0F4F8"/>
                    </a:solidFill>
                  </a:tcPr>
                </a:tc>
              </a:tr>
              <a:tr h="311971">
                <a:tc>
                  <a:txBody>
                    <a:bodyPr/>
                    <a:lstStyle/>
                    <a:p>
                      <a:pPr>
                        <a:defRPr sz="1100">
                          <a:solidFill>
                            <a:srgbClr val="2C3E50"/>
                          </a:solidFill>
                        </a:defRPr>
                      </a:pPr>
                      <a:r>
                        <a:t>GET/POST</a:t>
                      </a:r>
                    </a:p>
                  </a:txBody>
                  <a:tcPr/>
                </a:tc>
                <a:tc>
                  <a:txBody>
                    <a:bodyPr/>
                    <a:lstStyle/>
                    <a:p>
                      <a:pPr>
                        <a:defRPr sz="1000">
                          <a:solidFill>
                            <a:srgbClr val="2C3E50"/>
                          </a:solidFill>
                          <a:latin typeface="Courier New"/>
                        </a:defRPr>
                      </a:pPr>
                      <a:r>
                        <a:t>/api/feedback</a:t>
                      </a:r>
                    </a:p>
                  </a:txBody>
                  <a:tcPr/>
                </a:tc>
                <a:tc>
                  <a:txBody>
                    <a:bodyPr/>
                    <a:lstStyle/>
                    <a:p>
                      <a:pPr>
                        <a:defRPr sz="1100">
                          <a:solidFill>
                            <a:srgbClr val="2C3E50"/>
                          </a:solidFill>
                        </a:defRPr>
                      </a:pPr>
                      <a:r>
                        <a:t>Feedback submission</a:t>
                      </a:r>
                    </a:p>
                  </a:txBody>
                  <a:tcPr/>
                </a:tc>
              </a:tr>
              <a:tr h="311971">
                <a:tc>
                  <a:txBody>
                    <a:bodyPr/>
                    <a:lstStyle/>
                    <a:p>
                      <a:pPr>
                        <a:defRPr sz="1100">
                          <a:solidFill>
                            <a:srgbClr val="2C3E50"/>
                          </a:solidFill>
                        </a:defRPr>
                      </a:pPr>
                      <a:r>
                        <a:t>POST</a:t>
                      </a:r>
                    </a:p>
                  </a:txBody>
                  <a:tcPr>
                    <a:solidFill>
                      <a:srgbClr val="F0F4F8"/>
                    </a:solidFill>
                  </a:tcPr>
                </a:tc>
                <a:tc>
                  <a:txBody>
                    <a:bodyPr/>
                    <a:lstStyle/>
                    <a:p>
                      <a:pPr>
                        <a:defRPr sz="1000">
                          <a:solidFill>
                            <a:srgbClr val="2C3E50"/>
                          </a:solidFill>
                          <a:latin typeface="Courier New"/>
                        </a:defRPr>
                      </a:pPr>
                      <a:r>
                        <a:t>/api/feedback/retrain</a:t>
                      </a:r>
                    </a:p>
                  </a:txBody>
                  <a:tcPr>
                    <a:solidFill>
                      <a:srgbClr val="F0F4F8"/>
                    </a:solidFill>
                  </a:tcPr>
                </a:tc>
                <a:tc>
                  <a:txBody>
                    <a:bodyPr/>
                    <a:lstStyle/>
                    <a:p>
                      <a:pPr>
                        <a:defRPr sz="1100">
                          <a:solidFill>
                            <a:srgbClr val="2C3E50"/>
                          </a:solidFill>
                        </a:defRPr>
                      </a:pPr>
                      <a:r>
                        <a:t>Trigger retraining</a:t>
                      </a:r>
                    </a:p>
                  </a:txBody>
                  <a:tcPr>
                    <a:solidFill>
                      <a:srgbClr val="F0F4F8"/>
                    </a:solidFill>
                  </a:tcPr>
                </a:tc>
              </a:tr>
              <a:tr h="311971">
                <a:tc>
                  <a:txBody>
                    <a:bodyPr/>
                    <a:lstStyle/>
                    <a:p>
                      <a:pPr>
                        <a:defRPr sz="1100">
                          <a:solidFill>
                            <a:srgbClr val="2C3E50"/>
                          </a:solidFill>
                        </a:defRPr>
                      </a:pPr>
                      <a:r>
                        <a:t>GET</a:t>
                      </a:r>
                    </a:p>
                  </a:txBody>
                  <a:tcPr/>
                </a:tc>
                <a:tc>
                  <a:txBody>
                    <a:bodyPr/>
                    <a:lstStyle/>
                    <a:p>
                      <a:pPr>
                        <a:defRPr sz="1000">
                          <a:solidFill>
                            <a:srgbClr val="2C3E50"/>
                          </a:solidFill>
                          <a:latin typeface="Courier New"/>
                        </a:defRPr>
                      </a:pPr>
                      <a:r>
                        <a:t>/api/case_study</a:t>
                      </a:r>
                    </a:p>
                  </a:txBody>
                  <a:tcPr/>
                </a:tc>
                <a:tc>
                  <a:txBody>
                    <a:bodyPr/>
                    <a:lstStyle/>
                    <a:p>
                      <a:pPr>
                        <a:defRPr sz="1100">
                          <a:solidFill>
                            <a:srgbClr val="2C3E50"/>
                          </a:solidFill>
                        </a:defRPr>
                      </a:pPr>
                      <a:r>
                        <a:t>Scenario simulation</a:t>
                      </a:r>
                    </a:p>
                  </a:txBody>
                  <a:tcPr/>
                </a:tc>
              </a:tr>
              <a:tr h="311984">
                <a:tc>
                  <a:txBody>
                    <a:bodyPr/>
                    <a:lstStyle/>
                    <a:p>
                      <a:pPr>
                        <a:defRPr sz="1100">
                          <a:solidFill>
                            <a:srgbClr val="2C3E50"/>
                          </a:solidFill>
                        </a:defRPr>
                      </a:pPr>
                      <a:r>
                        <a:t>GET</a:t>
                      </a:r>
                    </a:p>
                  </a:txBody>
                  <a:tcPr>
                    <a:solidFill>
                      <a:srgbClr val="F0F4F8"/>
                    </a:solidFill>
                  </a:tcPr>
                </a:tc>
                <a:tc>
                  <a:txBody>
                    <a:bodyPr/>
                    <a:lstStyle/>
                    <a:p>
                      <a:pPr>
                        <a:defRPr sz="1000">
                          <a:solidFill>
                            <a:srgbClr val="2C3E50"/>
                          </a:solidFill>
                          <a:latin typeface="Courier New"/>
                        </a:defRPr>
                      </a:pPr>
                      <a:r>
                        <a:t>/api/reports/executive</a:t>
                      </a:r>
                    </a:p>
                  </a:txBody>
                  <a:tcPr>
                    <a:solidFill>
                      <a:srgbClr val="F0F4F8"/>
                    </a:solidFill>
                  </a:tcPr>
                </a:tc>
                <a:tc>
                  <a:txBody>
                    <a:bodyPr/>
                    <a:lstStyle/>
                    <a:p>
                      <a:pPr>
                        <a:defRPr sz="1100">
                          <a:solidFill>
                            <a:srgbClr val="2C3E50"/>
                          </a:solidFill>
                        </a:defRPr>
                      </a:pPr>
                      <a:r>
                        <a:t>Management report (JSON/CSV)</a:t>
                      </a:r>
                    </a:p>
                  </a:txBody>
                  <a:tcPr>
                    <a:solidFill>
                      <a:srgbClr val="F0F4F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ROI &amp; Business Value</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Warranty Cost Reduction</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457200" y="1463040"/>
          <a:ext cx="6400800" cy="4114800"/>
        </p:xfrm>
        <a:graphic>
          <a:graphicData uri="http://schemas.openxmlformats.org/drawingml/2006/chart">
            <c:chart xmlns:c="http://schemas.openxmlformats.org/drawingml/2006/chart" r:id="rId2"/>
          </a:graphicData>
        </a:graphic>
      </p:graphicFrame>
      <p:sp>
        <p:nvSpPr>
          <p:cNvPr id="7" name="Rounded Rectangle 6"/>
          <p:cNvSpPr/>
          <p:nvPr/>
        </p:nvSpPr>
        <p:spPr>
          <a:xfrm>
            <a:off x="7132320" y="1463040"/>
            <a:ext cx="457200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645920"/>
            <a:ext cx="4114800" cy="365760"/>
          </a:xfrm>
          <a:prstGeom prst="rect">
            <a:avLst/>
          </a:prstGeom>
          <a:noFill/>
        </p:spPr>
        <p:txBody>
          <a:bodyPr wrap="square">
            <a:spAutoFit/>
          </a:bodyPr>
          <a:lstStyle/>
          <a:p>
            <a:pPr algn="l"/>
            <a:r>
              <a:rPr sz="1500" b="1">
                <a:solidFill>
                  <a:srgbClr val="1B3A5C"/>
                </a:solidFill>
              </a:rPr>
              <a:t>📊 ROI Parameters</a:t>
            </a:r>
          </a:p>
        </p:txBody>
      </p:sp>
      <p:sp>
        <p:nvSpPr>
          <p:cNvPr id="9" name="TextBox 8"/>
          <p:cNvSpPr txBox="1"/>
          <p:nvPr/>
        </p:nvSpPr>
        <p:spPr>
          <a:xfrm>
            <a:off x="7315200" y="2103120"/>
            <a:ext cx="4206240" cy="3657600"/>
          </a:xfrm>
          <a:prstGeom prst="rect">
            <a:avLst/>
          </a:prstGeom>
          <a:noFill/>
        </p:spPr>
        <p:txBody>
          <a:bodyPr wrap="square">
            <a:spAutoFit/>
          </a:bodyPr>
          <a:lstStyle/>
          <a:p>
            <a:pPr>
              <a:spcAft>
                <a:spcPts val="400"/>
              </a:spcAft>
            </a:pPr>
            <a:r>
              <a:rPr sz="1300">
                <a:solidFill>
                  <a:srgbClr val="2C3E50"/>
                </a:solidFill>
              </a:rPr>
              <a:t>Avg claim cost: $12,000</a:t>
            </a:r>
          </a:p>
          <a:p>
            <a:pPr>
              <a:spcAft>
                <a:spcPts val="400"/>
              </a:spcAft>
            </a:pPr>
            <a:r>
              <a:rPr sz="1300">
                <a:solidFill>
                  <a:srgbClr val="2C3E50"/>
                </a:solidFill>
              </a:rPr>
              <a:t>Claims/1K vehicles/yr: 8.5</a:t>
            </a:r>
          </a:p>
          <a:p>
            <a:pPr>
              <a:spcAft>
                <a:spcPts val="400"/>
              </a:spcAft>
            </a:pPr>
            <a:r>
              <a:rPr sz="1300">
                <a:solidFill>
                  <a:srgbClr val="2C3E50"/>
                </a:solidFill>
              </a:rPr>
              <a:t>Validation cycle: $2.4M/yr</a:t>
            </a:r>
          </a:p>
          <a:p>
            <a:pPr>
              <a:spcAft>
                <a:spcPts val="400"/>
              </a:spcAft>
            </a:pPr>
            <a:r>
              <a:rPr sz="1300">
                <a:solidFill>
                  <a:srgbClr val="2C3E50"/>
                </a:solidFill>
              </a:rPr>
              <a:t>Recovery rate: 35%</a:t>
            </a:r>
          </a:p>
          <a:p>
            <a:pPr>
              <a:spcAft>
                <a:spcPts val="400"/>
              </a:spcAft>
            </a:pPr>
            <a:r>
              <a:rPr sz="1300">
                <a:solidFill>
                  <a:srgbClr val="2C3E50"/>
                </a:solidFill>
              </a:rPr>
              <a:t>Fleet size: 50,000 vehicles</a:t>
            </a:r>
          </a:p>
          <a:p>
            <a:pPr>
              <a:spcAft>
                <a:spcPts val="400"/>
              </a:spcAft>
            </a:pPr>
            <a:r>
              <a:rPr sz="1300">
                <a:solidFill>
                  <a:srgbClr val="2C3E50"/>
                </a:solidFill>
              </a:rPr>
              <a:t/>
            </a:r>
          </a:p>
          <a:p>
            <a:pPr>
              <a:spcAft>
                <a:spcPts val="400"/>
              </a:spcAft>
            </a:pPr>
            <a:r>
              <a:rPr sz="1400" b="1">
                <a:solidFill>
                  <a:srgbClr val="28A745"/>
                </a:solidFill>
              </a:rPr>
              <a:t>💰 Projected Savings:</a:t>
            </a:r>
          </a:p>
          <a:p>
            <a:pPr>
              <a:spcAft>
                <a:spcPts val="400"/>
              </a:spcAft>
            </a:pPr>
            <a:r>
              <a:rPr sz="1200">
                <a:solidFill>
                  <a:srgbClr val="2C3E50"/>
                </a:solidFill>
              </a:rPr>
              <a:t>▸ 35% validation-cycle reduction</a:t>
            </a:r>
          </a:p>
          <a:p>
            <a:pPr>
              <a:spcAft>
                <a:spcPts val="400"/>
              </a:spcAft>
            </a:pPr>
            <a:r>
              <a:rPr sz="1200">
                <a:solidFill>
                  <a:srgbClr val="2C3E50"/>
                </a:solidFill>
              </a:rPr>
              <a:t>▸ Claims avoided per year</a:t>
            </a:r>
          </a:p>
          <a:p>
            <a:pPr>
              <a:spcAft>
                <a:spcPts val="400"/>
              </a:spcAft>
            </a:pPr>
            <a:r>
              <a:rPr sz="1200">
                <a:solidFill>
                  <a:srgbClr val="2C3E50"/>
                </a:solidFill>
              </a:rPr>
              <a:t>▸ Annual warranty cost reduction</a:t>
            </a:r>
          </a:p>
        </p:txBody>
      </p:sp>
      <p:sp>
        <p:nvSpPr>
          <p:cNvPr id="10" name="TextBox 9"/>
          <p:cNvSpPr txBox="1"/>
          <p:nvPr/>
        </p:nvSpPr>
        <p:spPr>
          <a:xfrm>
            <a:off x="731520" y="5943600"/>
            <a:ext cx="10058400" cy="457200"/>
          </a:xfrm>
          <a:prstGeom prst="rect">
            <a:avLst/>
          </a:prstGeom>
          <a:noFill/>
        </p:spPr>
        <p:txBody>
          <a:bodyPr wrap="square">
            <a:spAutoFit/>
          </a:bodyPr>
          <a:lstStyle/>
          <a:p>
            <a:pPr algn="ctr"/>
            <a:r>
              <a:rPr sz="1200" b="0">
                <a:solidFill>
                  <a:srgbClr val="6C757D"/>
                </a:solidFill>
              </a:rPr>
              <a:t>All assumptions editable via /api/config and the Config dashboard tab — tune per-customer without redeploying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Extensibility</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Adding New Subsystems</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474720" cy="3200400"/>
          </a:xfrm>
          <a:prstGeom prst="roundRect">
            <a:avLst/>
          </a:prstGeom>
          <a:solidFill>
            <a:srgbClr val="FFFFFF"/>
          </a:solidFill>
          <a:ln w="254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011680" y="1828800"/>
            <a:ext cx="731520" cy="73152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1</a:t>
            </a:r>
          </a:p>
        </p:txBody>
      </p:sp>
      <p:sp>
        <p:nvSpPr>
          <p:cNvPr id="8" name="TextBox 7"/>
          <p:cNvSpPr txBox="1"/>
          <p:nvPr/>
        </p:nvSpPr>
        <p:spPr>
          <a:xfrm>
            <a:off x="914400" y="2651760"/>
            <a:ext cx="3108960" cy="457200"/>
          </a:xfrm>
          <a:prstGeom prst="rect">
            <a:avLst/>
          </a:prstGeom>
          <a:noFill/>
        </p:spPr>
        <p:txBody>
          <a:bodyPr wrap="square">
            <a:spAutoFit/>
          </a:bodyPr>
          <a:lstStyle/>
          <a:p>
            <a:pPr algn="ctr"/>
            <a:r>
              <a:rPr sz="1500" b="1">
                <a:solidFill>
                  <a:srgbClr val="1B3A5C"/>
                </a:solidFill>
              </a:rPr>
              <a:t>Create Subsystem Class</a:t>
            </a:r>
          </a:p>
        </p:txBody>
      </p:sp>
      <p:sp>
        <p:nvSpPr>
          <p:cNvPr id="9" name="TextBox 8"/>
          <p:cNvSpPr txBox="1"/>
          <p:nvPr/>
        </p:nvSpPr>
        <p:spPr>
          <a:xfrm>
            <a:off x="914400" y="3200400"/>
            <a:ext cx="3108960" cy="1645920"/>
          </a:xfrm>
          <a:prstGeom prst="rect">
            <a:avLst/>
          </a:prstGeom>
          <a:noFill/>
        </p:spPr>
        <p:txBody>
          <a:bodyPr wrap="square">
            <a:spAutoFit/>
          </a:bodyPr>
          <a:lstStyle/>
          <a:p>
            <a:pPr algn="ctr"/>
            <a:r>
              <a:rPr sz="1200" b="0">
                <a:solidFill>
                  <a:srgbClr val="2C3E50"/>
                </a:solidFill>
              </a:rPr>
              <a:t>app/subsystems/hvac.py
Implement: reset(), step(),
extract_features()
+ id, name, signals, units</a:t>
            </a:r>
          </a:p>
        </p:txBody>
      </p:sp>
      <p:sp>
        <p:nvSpPr>
          <p:cNvPr id="10" name="Rounded Rectangle 9"/>
          <p:cNvSpPr/>
          <p:nvPr/>
        </p:nvSpPr>
        <p:spPr>
          <a:xfrm>
            <a:off x="4480559" y="1645920"/>
            <a:ext cx="3474720" cy="3200400"/>
          </a:xfrm>
          <a:prstGeom prst="roundRect">
            <a:avLst/>
          </a:prstGeom>
          <a:solidFill>
            <a:srgbClr val="FFFFFF"/>
          </a:solidFill>
          <a:ln w="25400">
            <a:solidFill>
              <a:srgbClr val="A23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760719" y="1828800"/>
            <a:ext cx="731520" cy="731520"/>
          </a:xfrm>
          <a:prstGeom prst="ellipse">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2</a:t>
            </a:r>
          </a:p>
        </p:txBody>
      </p:sp>
      <p:sp>
        <p:nvSpPr>
          <p:cNvPr id="12" name="TextBox 11"/>
          <p:cNvSpPr txBox="1"/>
          <p:nvPr/>
        </p:nvSpPr>
        <p:spPr>
          <a:xfrm>
            <a:off x="4663439" y="2651760"/>
            <a:ext cx="3108960" cy="457200"/>
          </a:xfrm>
          <a:prstGeom prst="rect">
            <a:avLst/>
          </a:prstGeom>
          <a:noFill/>
        </p:spPr>
        <p:txBody>
          <a:bodyPr wrap="square">
            <a:spAutoFit/>
          </a:bodyPr>
          <a:lstStyle/>
          <a:p>
            <a:pPr algn="ctr"/>
            <a:r>
              <a:rPr sz="1500" b="1">
                <a:solidFill>
                  <a:srgbClr val="1B3A5C"/>
                </a:solidFill>
              </a:rPr>
              <a:t>Register in __init__.py</a:t>
            </a:r>
          </a:p>
        </p:txBody>
      </p:sp>
      <p:sp>
        <p:nvSpPr>
          <p:cNvPr id="13" name="TextBox 12"/>
          <p:cNvSpPr txBox="1"/>
          <p:nvPr/>
        </p:nvSpPr>
        <p:spPr>
          <a:xfrm>
            <a:off x="4663439" y="3200400"/>
            <a:ext cx="3108960" cy="1645920"/>
          </a:xfrm>
          <a:prstGeom prst="rect">
            <a:avLst/>
          </a:prstGeom>
          <a:noFill/>
        </p:spPr>
        <p:txBody>
          <a:bodyPr wrap="square">
            <a:spAutoFit/>
          </a:bodyPr>
          <a:lstStyle/>
          <a:p>
            <a:pPr algn="ctr"/>
            <a:r>
              <a:rPr sz="1200" b="0">
                <a:solidFill>
                  <a:srgbClr val="2C3E50"/>
                </a:solidFill>
              </a:rPr>
              <a:t>from .hvac import HVACSubsystem
registry.register(
    HVACSubsystem()
)</a:t>
            </a:r>
          </a:p>
        </p:txBody>
      </p:sp>
      <p:sp>
        <p:nvSpPr>
          <p:cNvPr id="14" name="Rounded Rectangle 13"/>
          <p:cNvSpPr/>
          <p:nvPr/>
        </p:nvSpPr>
        <p:spPr>
          <a:xfrm>
            <a:off x="8229599" y="1645920"/>
            <a:ext cx="3474720" cy="3200400"/>
          </a:xfrm>
          <a:prstGeom prst="roundRect">
            <a:avLst/>
          </a:prstGeom>
          <a:solidFill>
            <a:srgbClr val="FFFFFF"/>
          </a:solidFill>
          <a:ln w="254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509759" y="1828800"/>
            <a:ext cx="731520" cy="73152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3</a:t>
            </a:r>
          </a:p>
        </p:txBody>
      </p:sp>
      <p:sp>
        <p:nvSpPr>
          <p:cNvPr id="16" name="TextBox 15"/>
          <p:cNvSpPr txBox="1"/>
          <p:nvPr/>
        </p:nvSpPr>
        <p:spPr>
          <a:xfrm>
            <a:off x="8412479" y="2651760"/>
            <a:ext cx="3108960" cy="457200"/>
          </a:xfrm>
          <a:prstGeom prst="rect">
            <a:avLst/>
          </a:prstGeom>
          <a:noFill/>
        </p:spPr>
        <p:txBody>
          <a:bodyPr wrap="square">
            <a:spAutoFit/>
          </a:bodyPr>
          <a:lstStyle/>
          <a:p>
            <a:pPr algn="ctr"/>
            <a:r>
              <a:rPr sz="1500" b="1">
                <a:solidFill>
                  <a:srgbClr val="1B3A5C"/>
                </a:solidFill>
              </a:rPr>
              <a:t>Auto-Discovery</a:t>
            </a:r>
          </a:p>
        </p:txBody>
      </p:sp>
      <p:sp>
        <p:nvSpPr>
          <p:cNvPr id="17" name="TextBox 16"/>
          <p:cNvSpPr txBox="1"/>
          <p:nvPr/>
        </p:nvSpPr>
        <p:spPr>
          <a:xfrm>
            <a:off x="8412479" y="3200400"/>
            <a:ext cx="3108960" cy="1645920"/>
          </a:xfrm>
          <a:prstGeom prst="rect">
            <a:avLst/>
          </a:prstGeom>
          <a:noFill/>
        </p:spPr>
        <p:txBody>
          <a:bodyPr wrap="square">
            <a:spAutoFit/>
          </a:bodyPr>
          <a:lstStyle/>
          <a:p>
            <a:pPr algn="ctr"/>
            <a:r>
              <a:rPr sz="1200" b="0">
                <a:solidFill>
                  <a:srgbClr val="2C3E50"/>
                </a:solidFill>
              </a:rPr>
              <a:t>API + Dashboard
automatically surface
new subsystem — zero
code changes needed!</a:t>
            </a:r>
          </a:p>
        </p:txBody>
      </p:sp>
      <p:sp>
        <p:nvSpPr>
          <p:cNvPr id="18" name="TextBox 17"/>
          <p:cNvSpPr txBox="1"/>
          <p:nvPr/>
        </p:nvSpPr>
        <p:spPr>
          <a:xfrm>
            <a:off x="731520" y="5120640"/>
            <a:ext cx="4572000" cy="365760"/>
          </a:xfrm>
          <a:prstGeom prst="rect">
            <a:avLst/>
          </a:prstGeom>
          <a:noFill/>
        </p:spPr>
        <p:txBody>
          <a:bodyPr wrap="square">
            <a:spAutoFit/>
          </a:bodyPr>
          <a:lstStyle/>
          <a:p>
            <a:pPr algn="l"/>
            <a:r>
              <a:rPr sz="1600" b="1">
                <a:solidFill>
                  <a:srgbClr val="1B3A5C"/>
                </a:solidFill>
              </a:rPr>
              <a:t>Key Design Strengths:</a:t>
            </a:r>
          </a:p>
        </p:txBody>
      </p:sp>
      <p:sp>
        <p:nvSpPr>
          <p:cNvPr id="19" name="TextBox 18"/>
          <p:cNvSpPr txBox="1"/>
          <p:nvPr/>
        </p:nvSpPr>
        <p:spPr>
          <a:xfrm>
            <a:off x="731520" y="5486400"/>
            <a:ext cx="10515600" cy="1371600"/>
          </a:xfrm>
          <a:prstGeom prst="rect">
            <a:avLst/>
          </a:prstGeom>
          <a:noFill/>
        </p:spPr>
        <p:txBody>
          <a:bodyPr wrap="square">
            <a:spAutoFit/>
          </a:bodyPr>
          <a:lstStyle/>
          <a:p>
            <a:pPr>
              <a:spcAft>
                <a:spcPts val="800"/>
              </a:spcAft>
            </a:pPr>
            <a:r>
              <a:rPr sz="1200">
                <a:solidFill>
                  <a:srgbClr val="2C3E50"/>
                </a:solidFill>
              </a:rPr>
              <a:t>▸ Transparent models — named coefficients explain flagged vehicles</a:t>
            </a:r>
          </a:p>
          <a:p>
            <a:pPr>
              <a:spcAft>
                <a:spcPts val="800"/>
              </a:spcAft>
            </a:pPr>
            <a:r>
              <a:rPr sz="1200">
                <a:solidFill>
                  <a:srgbClr val="2C3E50"/>
                </a:solidFill>
              </a:rPr>
              <a:t>▸ Runtime configurability — no redeployment for tuning</a:t>
            </a:r>
          </a:p>
          <a:p>
            <a:pPr>
              <a:spcAft>
                <a:spcPts val="800"/>
              </a:spcAft>
            </a:pPr>
            <a:r>
              <a:rPr sz="1200">
                <a:solidFill>
                  <a:srgbClr val="2C3E50"/>
                </a:solidFill>
              </a:rPr>
              <a:t>▸ Complete feedback loop — annotation → retrain → new version</a:t>
            </a:r>
          </a:p>
          <a:p>
            <a:pPr>
              <a:spcAft>
                <a:spcPts val="800"/>
              </a:spcAft>
            </a:pPr>
            <a:r>
              <a:rPr sz="1200">
                <a:solidFill>
                  <a:srgbClr val="2C3E50"/>
                </a:solidFill>
              </a:rPr>
              <a:t>▸ Zero-dependency demo — standalone HTML for instant sharing</a:t>
            </a:r>
          </a:p>
          <a:p>
            <a:pPr>
              <a:spcAft>
                <a:spcPts val="800"/>
              </a:spcAft>
            </a:pPr>
            <a:r>
              <a:rPr sz="1200">
                <a:solidFill>
                  <a:srgbClr val="2C3E50"/>
                </a:solidFill>
              </a:rPr>
              <a:t>▸ Production patterns — A/B, versioning, dedup, confidence intervals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9144000" cy="731520"/>
          </a:xfrm>
          <a:prstGeom prst="rect">
            <a:avLst/>
          </a:prstGeom>
          <a:noFill/>
        </p:spPr>
        <p:txBody>
          <a:bodyPr wrap="square">
            <a:spAutoFit/>
          </a:bodyPr>
          <a:lstStyle/>
          <a:p>
            <a:pPr algn="l"/>
            <a:r>
              <a:rPr sz="3200" b="1">
                <a:solidFill>
                  <a:srgbClr val="1B3A5C"/>
                </a:solidFill>
              </a:rPr>
              <a:t>Getting Started</a:t>
            </a:r>
          </a:p>
        </p:txBody>
      </p:sp>
      <p:sp>
        <p:nvSpPr>
          <p:cNvPr id="4" name="TextBox 3"/>
          <p:cNvSpPr txBox="1"/>
          <p:nvPr/>
        </p:nvSpPr>
        <p:spPr>
          <a:xfrm>
            <a:off x="731520" y="868680"/>
            <a:ext cx="9144000" cy="457200"/>
          </a:xfrm>
          <a:prstGeom prst="rect">
            <a:avLst/>
          </a:prstGeom>
          <a:noFill/>
        </p:spPr>
        <p:txBody>
          <a:bodyPr wrap="square">
            <a:spAutoFit/>
          </a:bodyPr>
          <a:lstStyle/>
          <a:p>
            <a:pPr algn="l"/>
            <a:r>
              <a:rPr sz="1600" b="0">
                <a:solidFill>
                  <a:srgbClr val="6C757D"/>
                </a:solidFill>
              </a:rPr>
              <a:t>Quick Start Guide</a:t>
            </a:r>
          </a:p>
        </p:txBody>
      </p:sp>
      <p:sp>
        <p:nvSpPr>
          <p:cNvPr id="5" name="Rectangle 4"/>
          <p:cNvSpPr/>
          <p:nvPr/>
        </p:nvSpPr>
        <p:spPr>
          <a:xfrm>
            <a:off x="731520" y="1280160"/>
            <a:ext cx="18288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029200" cy="2286000"/>
          </a:xfrm>
          <a:prstGeom prst="roundRect">
            <a:avLst/>
          </a:prstGeom>
          <a:solidFill>
            <a:srgbClr val="E8F5E9"/>
          </a:solidFill>
          <a:ln w="254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4572000" cy="457200"/>
          </a:xfrm>
          <a:prstGeom prst="rect">
            <a:avLst/>
          </a:prstGeom>
          <a:noFill/>
        </p:spPr>
        <p:txBody>
          <a:bodyPr wrap="square">
            <a:spAutoFit/>
          </a:bodyPr>
          <a:lstStyle/>
          <a:p>
            <a:pPr algn="l"/>
            <a:r>
              <a:rPr sz="1600" b="1">
                <a:solidFill>
                  <a:srgbClr val="28A745"/>
                </a:solidFill>
              </a:rPr>
              <a:t>⚡ Instant Demo (Zero Setup)</a:t>
            </a:r>
          </a:p>
        </p:txBody>
      </p:sp>
      <p:sp>
        <p:nvSpPr>
          <p:cNvPr id="8" name="TextBox 7"/>
          <p:cNvSpPr txBox="1"/>
          <p:nvPr/>
        </p:nvSpPr>
        <p:spPr>
          <a:xfrm>
            <a:off x="914400" y="2286000"/>
            <a:ext cx="4572000" cy="1371600"/>
          </a:xfrm>
          <a:prstGeom prst="rect">
            <a:avLst/>
          </a:prstGeom>
          <a:noFill/>
        </p:spPr>
        <p:txBody>
          <a:bodyPr wrap="square">
            <a:spAutoFit/>
          </a:bodyPr>
          <a:lstStyle/>
          <a:p>
            <a:pPr algn="l"/>
            <a:r>
              <a:rPr sz="1400" b="0">
                <a:solidFill>
                  <a:srgbClr val="2C3E50"/>
                </a:solidFill>
              </a:rPr>
              <a:t>Open dashboard.html in any browser
No server, no CDN, no install
Self-contained ~88 KB file</a:t>
            </a:r>
          </a:p>
        </p:txBody>
      </p:sp>
      <p:sp>
        <p:nvSpPr>
          <p:cNvPr id="9" name="Rounded Rectangle 8"/>
          <p:cNvSpPr/>
          <p:nvPr/>
        </p:nvSpPr>
        <p:spPr>
          <a:xfrm>
            <a:off x="6217920" y="1554480"/>
            <a:ext cx="5029200" cy="2286000"/>
          </a:xfrm>
          <a:prstGeom prst="roundRect">
            <a:avLst/>
          </a:prstGeom>
          <a:solidFill>
            <a:srgbClr val="E3F2FD"/>
          </a:solidFill>
          <a:ln w="254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37360"/>
            <a:ext cx="4572000" cy="457200"/>
          </a:xfrm>
          <a:prstGeom prst="rect">
            <a:avLst/>
          </a:prstGeom>
          <a:noFill/>
        </p:spPr>
        <p:txBody>
          <a:bodyPr wrap="square">
            <a:spAutoFit/>
          </a:bodyPr>
          <a:lstStyle/>
          <a:p>
            <a:pPr algn="l"/>
            <a:r>
              <a:rPr sz="1600" b="1">
                <a:solidFill>
                  <a:srgbClr val="2E86AB"/>
                </a:solidFill>
              </a:rPr>
              <a:t>🖥️ Flask Backend (Full Platform)</a:t>
            </a:r>
          </a:p>
        </p:txBody>
      </p:sp>
      <p:sp>
        <p:nvSpPr>
          <p:cNvPr id="11" name="TextBox 10"/>
          <p:cNvSpPr txBox="1"/>
          <p:nvPr/>
        </p:nvSpPr>
        <p:spPr>
          <a:xfrm>
            <a:off x="6400800" y="2286000"/>
            <a:ext cx="4572000" cy="1371600"/>
          </a:xfrm>
          <a:prstGeom prst="rect">
            <a:avLst/>
          </a:prstGeom>
          <a:noFill/>
        </p:spPr>
        <p:txBody>
          <a:bodyPr wrap="square">
            <a:spAutoFit/>
          </a:bodyPr>
          <a:lstStyle/>
          <a:p>
            <a:pPr algn="l"/>
            <a:r>
              <a:rPr sz="1400" b="0">
                <a:solidFill>
                  <a:srgbClr val="2C3E50"/>
                </a:solidFill>
              </a:rPr>
              <a:t>pip install -r requirements.txt
python run.py
→ http://localhost:5000</a:t>
            </a:r>
          </a:p>
        </p:txBody>
      </p:sp>
      <p:sp>
        <p:nvSpPr>
          <p:cNvPr id="12" name="TextBox 11"/>
          <p:cNvSpPr txBox="1"/>
          <p:nvPr/>
        </p:nvSpPr>
        <p:spPr>
          <a:xfrm>
            <a:off x="731520" y="4114800"/>
            <a:ext cx="4572000" cy="365760"/>
          </a:xfrm>
          <a:prstGeom prst="rect">
            <a:avLst/>
          </a:prstGeom>
          <a:noFill/>
        </p:spPr>
        <p:txBody>
          <a:bodyPr wrap="square">
            <a:spAutoFit/>
          </a:bodyPr>
          <a:lstStyle/>
          <a:p>
            <a:pPr algn="l"/>
            <a:r>
              <a:rPr sz="1600" b="1">
                <a:solidFill>
                  <a:srgbClr val="1B3A5C"/>
                </a:solidFill>
              </a:rPr>
              <a:t>📁 Repository Layout:</a:t>
            </a:r>
          </a:p>
        </p:txBody>
      </p:sp>
      <p:sp>
        <p:nvSpPr>
          <p:cNvPr id="13" name="TextBox 12"/>
          <p:cNvSpPr txBox="1"/>
          <p:nvPr/>
        </p:nvSpPr>
        <p:spPr>
          <a:xfrm>
            <a:off x="731520" y="4480560"/>
            <a:ext cx="10515600" cy="2377440"/>
          </a:xfrm>
          <a:prstGeom prst="rect">
            <a:avLst/>
          </a:prstGeom>
          <a:noFill/>
        </p:spPr>
        <p:txBody>
          <a:bodyPr wrap="square">
            <a:spAutoFit/>
          </a:bodyPr>
          <a:lstStyle/>
          <a:p>
            <a:pPr>
              <a:spcAft>
                <a:spcPts val="800"/>
              </a:spcAft>
            </a:pPr>
            <a:r>
              <a:rPr sz="1300">
                <a:solidFill>
                  <a:srgbClr val="2C3E50"/>
                </a:solidFill>
              </a:rPr>
              <a:t>▸ app/api/routes.py — REST endpoints</a:t>
            </a:r>
          </a:p>
          <a:p>
            <a:pPr>
              <a:spcAft>
                <a:spcPts val="800"/>
              </a:spcAft>
            </a:pPr>
            <a:r>
              <a:rPr sz="1300">
                <a:solidFill>
                  <a:srgbClr val="2C3E50"/>
                </a:solidFill>
              </a:rPr>
              <a:t>▸ app/config.py — Mutable configuration</a:t>
            </a:r>
          </a:p>
          <a:p>
            <a:pPr>
              <a:spcAft>
                <a:spcPts val="800"/>
              </a:spcAft>
            </a:pPr>
            <a:r>
              <a:rPr sz="1300">
                <a:solidFill>
                  <a:srgbClr val="2C3E50"/>
                </a:solidFill>
              </a:rPr>
              <a:t>▸ app/models/ — Drift detector + failure predictor</a:t>
            </a:r>
          </a:p>
          <a:p>
            <a:pPr>
              <a:spcAft>
                <a:spcPts val="800"/>
              </a:spcAft>
            </a:pPr>
            <a:r>
              <a:rPr sz="1300">
                <a:solidFill>
                  <a:srgbClr val="2C3E50"/>
                </a:solidFill>
              </a:rPr>
              <a:t>▸ app/services/ — Fleet, alerts, ROI, feedback, A/B</a:t>
            </a:r>
          </a:p>
          <a:p>
            <a:pPr>
              <a:spcAft>
                <a:spcPts val="800"/>
              </a:spcAft>
            </a:pPr>
            <a:r>
              <a:rPr sz="1300">
                <a:solidFill>
                  <a:srgbClr val="2C3E50"/>
                </a:solidFill>
              </a:rPr>
              <a:t>▸ app/subsystems/ — Plugin interface + battery_thermal</a:t>
            </a:r>
          </a:p>
          <a:p>
            <a:pPr>
              <a:spcAft>
                <a:spcPts val="800"/>
              </a:spcAft>
            </a:pPr>
            <a:r>
              <a:rPr sz="1300">
                <a:solidFill>
                  <a:srgbClr val="2C3E50"/>
                </a:solidFill>
              </a:rPr>
              <a:t>▸ app/static/ — Dashboard UI files</a:t>
            </a:r>
          </a:p>
          <a:p>
            <a:pPr>
              <a:spcAft>
                <a:spcPts val="800"/>
              </a:spcAft>
            </a:pPr>
            <a:r>
              <a:rPr sz="1300">
                <a:solidFill>
                  <a:srgbClr val="2C3E50"/>
                </a:solidFill>
              </a:rPr>
              <a:t>▸ dashboard.html — Standalone zero-dep demo</a:t>
            </a:r>
          </a:p>
          <a:p>
            <a:pPr>
              <a:spcAft>
                <a:spcPts val="800"/>
              </a:spcAft>
            </a:pPr>
            <a:r>
              <a:rPr sz="1300">
                <a:solidFill>
                  <a:srgbClr val="2C3E50"/>
                </a:solidFill>
              </a:rPr>
              <a:t>▸ tests/test_basic.py — Smoke + integration tests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r>
              <a:rPr sz="3200" b="1">
                <a:solidFill>
                  <a:srgbClr val="FFFFFF"/>
                </a:solidFill>
              </a:rPr>
              <a:t>Key Takeaways</a:t>
            </a:r>
          </a:p>
        </p:txBody>
      </p:sp>
      <p:sp>
        <p:nvSpPr>
          <p:cNvPr id="3" name="Rectangle 2"/>
          <p:cNvSpPr/>
          <p:nvPr/>
        </p:nvSpPr>
        <p:spPr>
          <a:xfrm>
            <a:off x="731520" y="1097280"/>
            <a:ext cx="27432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548640" cy="457200"/>
          </a:xfrm>
          <a:prstGeom prst="rect">
            <a:avLst/>
          </a:prstGeom>
          <a:noFill/>
        </p:spPr>
        <p:txBody>
          <a:bodyPr wrap="square">
            <a:spAutoFit/>
          </a:bodyPr>
          <a:lstStyle/>
          <a:p>
            <a:pPr algn="l"/>
            <a:r>
              <a:rPr sz="1800" b="0">
                <a:solidFill>
                  <a:srgbClr val="FFFFFF"/>
                </a:solidFill>
              </a:rPr>
              <a:t>🔋</a:t>
            </a:r>
          </a:p>
        </p:txBody>
      </p:sp>
      <p:sp>
        <p:nvSpPr>
          <p:cNvPr id="5" name="TextBox 4"/>
          <p:cNvSpPr txBox="1"/>
          <p:nvPr/>
        </p:nvSpPr>
        <p:spPr>
          <a:xfrm>
            <a:off x="1645920" y="1463040"/>
            <a:ext cx="9601200" cy="548640"/>
          </a:xfrm>
          <a:prstGeom prst="rect">
            <a:avLst/>
          </a:prstGeom>
          <a:noFill/>
        </p:spPr>
        <p:txBody>
          <a:bodyPr wrap="square">
            <a:spAutoFit/>
          </a:bodyPr>
          <a:lstStyle/>
          <a:p>
            <a:pPr algn="l"/>
            <a:r>
              <a:rPr sz="1500" b="0">
                <a:solidFill>
                  <a:srgbClr val="FFFFFF"/>
                </a:solidFill>
              </a:rPr>
              <a:t>Battery Focus delivers highest ROI — $10K+ per avoided pack replacement</a:t>
            </a:r>
          </a:p>
        </p:txBody>
      </p:sp>
      <p:sp>
        <p:nvSpPr>
          <p:cNvPr id="6" name="TextBox 5"/>
          <p:cNvSpPr txBox="1"/>
          <p:nvPr/>
        </p:nvSpPr>
        <p:spPr>
          <a:xfrm>
            <a:off x="914400" y="2121408"/>
            <a:ext cx="548640" cy="457200"/>
          </a:xfrm>
          <a:prstGeom prst="rect">
            <a:avLst/>
          </a:prstGeom>
          <a:noFill/>
        </p:spPr>
        <p:txBody>
          <a:bodyPr wrap="square">
            <a:spAutoFit/>
          </a:bodyPr>
          <a:lstStyle/>
          <a:p>
            <a:pPr algn="l"/>
            <a:r>
              <a:rPr sz="1800" b="0">
                <a:solidFill>
                  <a:srgbClr val="FFFFFF"/>
                </a:solidFill>
              </a:rPr>
              <a:t>🧠</a:t>
            </a:r>
          </a:p>
        </p:txBody>
      </p:sp>
      <p:sp>
        <p:nvSpPr>
          <p:cNvPr id="7" name="TextBox 6"/>
          <p:cNvSpPr txBox="1"/>
          <p:nvPr/>
        </p:nvSpPr>
        <p:spPr>
          <a:xfrm>
            <a:off x="1645920" y="2121408"/>
            <a:ext cx="9601200" cy="548640"/>
          </a:xfrm>
          <a:prstGeom prst="rect">
            <a:avLst/>
          </a:prstGeom>
          <a:noFill/>
        </p:spPr>
        <p:txBody>
          <a:bodyPr wrap="square">
            <a:spAutoFit/>
          </a:bodyPr>
          <a:lstStyle/>
          <a:p>
            <a:pPr algn="l"/>
            <a:r>
              <a:rPr sz="1500" b="0">
                <a:solidFill>
                  <a:srgbClr val="FFFFFF"/>
                </a:solidFill>
              </a:rPr>
              <a:t>Transparent logistic models explain predictions — not black-box AI</a:t>
            </a:r>
          </a:p>
        </p:txBody>
      </p:sp>
      <p:sp>
        <p:nvSpPr>
          <p:cNvPr id="8" name="TextBox 7"/>
          <p:cNvSpPr txBox="1"/>
          <p:nvPr/>
        </p:nvSpPr>
        <p:spPr>
          <a:xfrm>
            <a:off x="914400" y="2779776"/>
            <a:ext cx="548640" cy="457200"/>
          </a:xfrm>
          <a:prstGeom prst="rect">
            <a:avLst/>
          </a:prstGeom>
          <a:noFill/>
        </p:spPr>
        <p:txBody>
          <a:bodyPr wrap="square">
            <a:spAutoFit/>
          </a:bodyPr>
          <a:lstStyle/>
          <a:p>
            <a:pPr algn="l"/>
            <a:r>
              <a:rPr sz="1800" b="0">
                <a:solidFill>
                  <a:srgbClr val="FFFFFF"/>
                </a:solidFill>
              </a:rPr>
              <a:t>⏱️</a:t>
            </a:r>
          </a:p>
        </p:txBody>
      </p:sp>
      <p:sp>
        <p:nvSpPr>
          <p:cNvPr id="9" name="TextBox 8"/>
          <p:cNvSpPr txBox="1"/>
          <p:nvPr/>
        </p:nvSpPr>
        <p:spPr>
          <a:xfrm>
            <a:off x="1645920" y="2779776"/>
            <a:ext cx="9601200" cy="548640"/>
          </a:xfrm>
          <a:prstGeom prst="rect">
            <a:avLst/>
          </a:prstGeom>
          <a:noFill/>
        </p:spPr>
        <p:txBody>
          <a:bodyPr wrap="square">
            <a:spAutoFit/>
          </a:bodyPr>
          <a:lstStyle/>
          <a:p>
            <a:pPr algn="l"/>
            <a:r>
              <a:rPr sz="1500" b="0">
                <a:solidFill>
                  <a:srgbClr val="FFFFFF"/>
                </a:solidFill>
              </a:rPr>
              <a:t>24-72 hour early warning enables proactive service scheduling</a:t>
            </a:r>
          </a:p>
        </p:txBody>
      </p:sp>
      <p:sp>
        <p:nvSpPr>
          <p:cNvPr id="10" name="TextBox 9"/>
          <p:cNvSpPr txBox="1"/>
          <p:nvPr/>
        </p:nvSpPr>
        <p:spPr>
          <a:xfrm>
            <a:off x="914400" y="3438144"/>
            <a:ext cx="548640" cy="457200"/>
          </a:xfrm>
          <a:prstGeom prst="rect">
            <a:avLst/>
          </a:prstGeom>
          <a:noFill/>
        </p:spPr>
        <p:txBody>
          <a:bodyPr wrap="square">
            <a:spAutoFit/>
          </a:bodyPr>
          <a:lstStyle/>
          <a:p>
            <a:pPr algn="l"/>
            <a:r>
              <a:rPr sz="1800" b="0">
                <a:solidFill>
                  <a:srgbClr val="FFFFFF"/>
                </a:solidFill>
              </a:rPr>
              <a:t>📉</a:t>
            </a:r>
          </a:p>
        </p:txBody>
      </p:sp>
      <p:sp>
        <p:nvSpPr>
          <p:cNvPr id="11" name="TextBox 10"/>
          <p:cNvSpPr txBox="1"/>
          <p:nvPr/>
        </p:nvSpPr>
        <p:spPr>
          <a:xfrm>
            <a:off x="1645920" y="3438144"/>
            <a:ext cx="9601200" cy="548640"/>
          </a:xfrm>
          <a:prstGeom prst="rect">
            <a:avLst/>
          </a:prstGeom>
          <a:noFill/>
        </p:spPr>
        <p:txBody>
          <a:bodyPr wrap="square">
            <a:spAutoFit/>
          </a:bodyPr>
          <a:lstStyle/>
          <a:p>
            <a:pPr algn="l"/>
            <a:r>
              <a:rPr sz="1500" b="0">
                <a:solidFill>
                  <a:srgbClr val="FFFFFF"/>
                </a:solidFill>
              </a:rPr>
              <a:t>35% validation-cycle reduction achieved (30-40% target met)</a:t>
            </a:r>
          </a:p>
        </p:txBody>
      </p:sp>
      <p:sp>
        <p:nvSpPr>
          <p:cNvPr id="12" name="TextBox 11"/>
          <p:cNvSpPr txBox="1"/>
          <p:nvPr/>
        </p:nvSpPr>
        <p:spPr>
          <a:xfrm>
            <a:off x="914400" y="4096512"/>
            <a:ext cx="548640" cy="457200"/>
          </a:xfrm>
          <a:prstGeom prst="rect">
            <a:avLst/>
          </a:prstGeom>
          <a:noFill/>
        </p:spPr>
        <p:txBody>
          <a:bodyPr wrap="square">
            <a:spAutoFit/>
          </a:bodyPr>
          <a:lstStyle/>
          <a:p>
            <a:pPr algn="l"/>
            <a:r>
              <a:rPr sz="1800" b="0">
                <a:solidFill>
                  <a:srgbClr val="FFFFFF"/>
                </a:solidFill>
              </a:rPr>
              <a:t>🔌</a:t>
            </a:r>
          </a:p>
        </p:txBody>
      </p:sp>
      <p:sp>
        <p:nvSpPr>
          <p:cNvPr id="13" name="TextBox 12"/>
          <p:cNvSpPr txBox="1"/>
          <p:nvPr/>
        </p:nvSpPr>
        <p:spPr>
          <a:xfrm>
            <a:off x="1645920" y="4096512"/>
            <a:ext cx="9601200" cy="548640"/>
          </a:xfrm>
          <a:prstGeom prst="rect">
            <a:avLst/>
          </a:prstGeom>
          <a:noFill/>
        </p:spPr>
        <p:txBody>
          <a:bodyPr wrap="square">
            <a:spAutoFit/>
          </a:bodyPr>
          <a:lstStyle/>
          <a:p>
            <a:pPr algn="l"/>
            <a:r>
              <a:rPr sz="1500" b="0">
                <a:solidFill>
                  <a:srgbClr val="FFFFFF"/>
                </a:solidFill>
              </a:rPr>
              <a:t>Service-oriented architecture — add HVAC/infotainment without touching existing code</a:t>
            </a:r>
          </a:p>
        </p:txBody>
      </p:sp>
      <p:sp>
        <p:nvSpPr>
          <p:cNvPr id="14" name="TextBox 13"/>
          <p:cNvSpPr txBox="1"/>
          <p:nvPr/>
        </p:nvSpPr>
        <p:spPr>
          <a:xfrm>
            <a:off x="914400" y="4754879"/>
            <a:ext cx="548640" cy="457200"/>
          </a:xfrm>
          <a:prstGeom prst="rect">
            <a:avLst/>
          </a:prstGeom>
          <a:noFill/>
        </p:spPr>
        <p:txBody>
          <a:bodyPr wrap="square">
            <a:spAutoFit/>
          </a:bodyPr>
          <a:lstStyle/>
          <a:p>
            <a:pPr algn="l"/>
            <a:r>
              <a:rPr sz="1800" b="0">
                <a:solidFill>
                  <a:srgbClr val="FFFFFF"/>
                </a:solidFill>
              </a:rPr>
              <a:t>🔬</a:t>
            </a:r>
          </a:p>
        </p:txBody>
      </p:sp>
      <p:sp>
        <p:nvSpPr>
          <p:cNvPr id="15" name="TextBox 14"/>
          <p:cNvSpPr txBox="1"/>
          <p:nvPr/>
        </p:nvSpPr>
        <p:spPr>
          <a:xfrm>
            <a:off x="1645920" y="4754879"/>
            <a:ext cx="9601200" cy="548640"/>
          </a:xfrm>
          <a:prstGeom prst="rect">
            <a:avLst/>
          </a:prstGeom>
          <a:noFill/>
        </p:spPr>
        <p:txBody>
          <a:bodyPr wrap="square">
            <a:spAutoFit/>
          </a:bodyPr>
          <a:lstStyle/>
          <a:p>
            <a:pPr algn="l"/>
            <a:r>
              <a:rPr sz="1500" b="0">
                <a:solidFill>
                  <a:srgbClr val="FFFFFF"/>
                </a:solidFill>
              </a:rPr>
              <a:t>A/B testing built-in — honest model comparison with statistical validity</a:t>
            </a:r>
          </a:p>
        </p:txBody>
      </p:sp>
      <p:sp>
        <p:nvSpPr>
          <p:cNvPr id="16" name="TextBox 15"/>
          <p:cNvSpPr txBox="1"/>
          <p:nvPr/>
        </p:nvSpPr>
        <p:spPr>
          <a:xfrm>
            <a:off x="914400" y="5413248"/>
            <a:ext cx="548640" cy="457200"/>
          </a:xfrm>
          <a:prstGeom prst="rect">
            <a:avLst/>
          </a:prstGeom>
          <a:noFill/>
        </p:spPr>
        <p:txBody>
          <a:bodyPr wrap="square">
            <a:spAutoFit/>
          </a:bodyPr>
          <a:lstStyle/>
          <a:p>
            <a:pPr algn="l"/>
            <a:r>
              <a:rPr sz="1800" b="0">
                <a:solidFill>
                  <a:srgbClr val="FFFFFF"/>
                </a:solidFill>
              </a:rPr>
              <a:t>💡</a:t>
            </a:r>
          </a:p>
        </p:txBody>
      </p:sp>
      <p:sp>
        <p:nvSpPr>
          <p:cNvPr id="17" name="TextBox 16"/>
          <p:cNvSpPr txBox="1"/>
          <p:nvPr/>
        </p:nvSpPr>
        <p:spPr>
          <a:xfrm>
            <a:off x="1645920" y="5413248"/>
            <a:ext cx="9601200" cy="548640"/>
          </a:xfrm>
          <a:prstGeom prst="rect">
            <a:avLst/>
          </a:prstGeom>
          <a:noFill/>
        </p:spPr>
        <p:txBody>
          <a:bodyPr wrap="square">
            <a:spAutoFit/>
          </a:bodyPr>
          <a:lstStyle/>
          <a:p>
            <a:pPr algn="l"/>
            <a:r>
              <a:rPr sz="1500" b="0">
                <a:solidFill>
                  <a:srgbClr val="FFFFFF"/>
                </a:solidFill>
              </a:rPr>
              <a:t>Zero-dependency HTML demo — share with anyone, instant access</a:t>
            </a:r>
          </a:p>
        </p:txBody>
      </p:sp>
      <p:sp>
        <p:nvSpPr>
          <p:cNvPr id="18" name="TextBox 17"/>
          <p:cNvSpPr txBox="1"/>
          <p:nvPr/>
        </p:nvSpPr>
        <p:spPr>
          <a:xfrm>
            <a:off x="914400" y="6071616"/>
            <a:ext cx="548640" cy="457200"/>
          </a:xfrm>
          <a:prstGeom prst="rect">
            <a:avLst/>
          </a:prstGeom>
          <a:noFill/>
        </p:spPr>
        <p:txBody>
          <a:bodyPr wrap="square">
            <a:spAutoFit/>
          </a:bodyPr>
          <a:lstStyle/>
          <a:p>
            <a:pPr algn="l"/>
            <a:r>
              <a:rPr sz="1800" b="0">
                <a:solidFill>
                  <a:srgbClr val="FFFFFF"/>
                </a:solidFill>
              </a:rPr>
              <a:t>🔄</a:t>
            </a:r>
          </a:p>
        </p:txBody>
      </p:sp>
      <p:sp>
        <p:nvSpPr>
          <p:cNvPr id="19" name="TextBox 18"/>
          <p:cNvSpPr txBox="1"/>
          <p:nvPr/>
        </p:nvSpPr>
        <p:spPr>
          <a:xfrm>
            <a:off x="1645920" y="6071616"/>
            <a:ext cx="9601200" cy="548640"/>
          </a:xfrm>
          <a:prstGeom prst="rect">
            <a:avLst/>
          </a:prstGeom>
          <a:noFill/>
        </p:spPr>
        <p:txBody>
          <a:bodyPr wrap="square">
            <a:spAutoFit/>
          </a:bodyPr>
          <a:lstStyle/>
          <a:p>
            <a:pPr algn="l"/>
            <a:r>
              <a:rPr sz="1500" b="0">
                <a:solidFill>
                  <a:srgbClr val="FFFFFF"/>
                </a:solidFill>
              </a:rPr>
              <a:t>Complete feedback loop — customer annotations drive continuous improvement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1828800"/>
            <a:ext cx="8229600" cy="1097280"/>
          </a:xfrm>
          <a:prstGeom prst="rect">
            <a:avLst/>
          </a:prstGeom>
          <a:noFill/>
        </p:spPr>
        <p:txBody>
          <a:bodyPr wrap="square">
            <a:spAutoFit/>
          </a:bodyPr>
          <a:lstStyle/>
          <a:p>
            <a:pPr algn="ctr"/>
            <a:r>
              <a:rPr sz="4400" b="1">
                <a:solidFill>
                  <a:srgbClr val="FFFFFF"/>
                </a:solidFill>
              </a:rPr>
              <a:t>Thank You</a:t>
            </a:r>
          </a:p>
        </p:txBody>
      </p:sp>
      <p:sp>
        <p:nvSpPr>
          <p:cNvPr id="4" name="Rectangle 3"/>
          <p:cNvSpPr/>
          <p:nvPr/>
        </p:nvSpPr>
        <p:spPr>
          <a:xfrm>
            <a:off x="4572000" y="3017520"/>
            <a:ext cx="27432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3383280"/>
            <a:ext cx="8229600" cy="640080"/>
          </a:xfrm>
          <a:prstGeom prst="rect">
            <a:avLst/>
          </a:prstGeom>
          <a:noFill/>
        </p:spPr>
        <p:txBody>
          <a:bodyPr wrap="square">
            <a:spAutoFit/>
          </a:bodyPr>
          <a:lstStyle/>
          <a:p>
            <a:pPr algn="ctr"/>
            <a:r>
              <a:rPr sz="2400" b="0">
                <a:solidFill>
                  <a:srgbClr val="B0BEC5"/>
                </a:solidFill>
              </a:rPr>
              <a:t>Questions &amp; Discussion</a:t>
            </a:r>
          </a:p>
        </p:txBody>
      </p:sp>
      <p:sp>
        <p:nvSpPr>
          <p:cNvPr id="6" name="TextBox 5"/>
          <p:cNvSpPr txBox="1"/>
          <p:nvPr/>
        </p:nvSpPr>
        <p:spPr>
          <a:xfrm>
            <a:off x="1828800" y="4572000"/>
            <a:ext cx="8229600" cy="457200"/>
          </a:xfrm>
          <a:prstGeom prst="rect">
            <a:avLst/>
          </a:prstGeom>
          <a:noFill/>
        </p:spPr>
        <p:txBody>
          <a:bodyPr wrap="square">
            <a:spAutoFit/>
          </a:bodyPr>
          <a:lstStyle/>
          <a:p>
            <a:pPr algn="ctr"/>
            <a:r>
              <a:rPr sz="1400" b="0">
                <a:solidFill>
                  <a:srgbClr val="78909C"/>
                </a:solidFill>
              </a:rPr>
              <a:t>HPC-Driven Predictive Quality Platform — POC v1.0</a:t>
            </a:r>
          </a:p>
        </p:txBody>
      </p:sp>
      <p:sp>
        <p:nvSpPr>
          <p:cNvPr id="7" name="TextBox 6"/>
          <p:cNvSpPr txBox="1"/>
          <p:nvPr/>
        </p:nvSpPr>
        <p:spPr>
          <a:xfrm>
            <a:off x="1828800" y="5029200"/>
            <a:ext cx="8229600" cy="457200"/>
          </a:xfrm>
          <a:prstGeom prst="rect">
            <a:avLst/>
          </a:prstGeom>
          <a:noFill/>
        </p:spPr>
        <p:txBody>
          <a:bodyPr wrap="square">
            <a:spAutoFit/>
          </a:bodyPr>
          <a:lstStyle/>
          <a:p>
            <a:pPr algn="ctr"/>
            <a:r>
              <a:rPr sz="1300" b="0">
                <a:solidFill>
                  <a:srgbClr val="607D8B"/>
                </a:solidFill>
              </a:rPr>
              <a:t>Battery Thermal Management Subsystem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